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83" r:id="rId3"/>
    <p:sldId id="284" r:id="rId4"/>
    <p:sldId id="285" r:id="rId5"/>
    <p:sldId id="273" r:id="rId6"/>
    <p:sldId id="286" r:id="rId7"/>
    <p:sldId id="302" r:id="rId8"/>
    <p:sldId id="293" r:id="rId9"/>
    <p:sldId id="287" r:id="rId10"/>
    <p:sldId id="259" r:id="rId11"/>
    <p:sldId id="260" r:id="rId12"/>
    <p:sldId id="288" r:id="rId13"/>
    <p:sldId id="262" r:id="rId14"/>
    <p:sldId id="263" r:id="rId15"/>
    <p:sldId id="289" r:id="rId16"/>
    <p:sldId id="308" r:id="rId17"/>
    <p:sldId id="265" r:id="rId18"/>
    <p:sldId id="266" r:id="rId19"/>
    <p:sldId id="267" r:id="rId20"/>
    <p:sldId id="268" r:id="rId21"/>
    <p:sldId id="297" r:id="rId22"/>
    <p:sldId id="300" r:id="rId23"/>
    <p:sldId id="305" r:id="rId24"/>
    <p:sldId id="270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264" y="72"/>
      </p:cViewPr>
      <p:guideLst>
        <p:guide orient="horz" pos="2159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3.png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image" Target="../media/image2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1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image" Target="../media/image1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80.xml"/><Relationship Id="rId19" Type="http://schemas.openxmlformats.org/officeDocument/2006/relationships/image" Target="../media/image3.png"/><Relationship Id="rId18" Type="http://schemas.openxmlformats.org/officeDocument/2006/relationships/tags" Target="../tags/tag94.xml"/><Relationship Id="rId17" Type="http://schemas.openxmlformats.org/officeDocument/2006/relationships/image" Target="../media/image2.png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pic>
        <p:nvPicPr>
          <p:cNvPr id="16" name="图片 15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2" name="直接连接符 21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14"/>
            </p:custDataLst>
          </p:nvPr>
        </p:nvSpPr>
        <p:spPr>
          <a:xfrm flipH="1" flipV="1">
            <a:off x="5064711" y="893"/>
            <a:ext cx="3304949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5"/>
            </p:custDataLst>
          </p:nvPr>
        </p:nvSpPr>
        <p:spPr>
          <a:xfrm flipH="1" flipV="1">
            <a:off x="6336284" y="893"/>
            <a:ext cx="3707434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16"/>
            </p:custDataLst>
          </p:nvPr>
        </p:nvSpPr>
        <p:spPr>
          <a:xfrm flipH="1" flipV="1">
            <a:off x="7991298" y="893"/>
            <a:ext cx="3730288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0" name="图片 9" descr="00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1"/>
            </p:custDataLst>
          </p:nvPr>
        </p:nvSpPr>
        <p:spPr>
          <a:xfrm>
            <a:off x="1199837" y="1695267"/>
            <a:ext cx="7922736" cy="2020679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2"/>
            </p:custDataLst>
          </p:nvPr>
        </p:nvSpPr>
        <p:spPr>
          <a:xfrm>
            <a:off x="1199837" y="3806278"/>
            <a:ext cx="7633612" cy="568833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3"/>
            </p:custDataLst>
          </p:nvPr>
        </p:nvSpPr>
        <p:spPr>
          <a:xfrm>
            <a:off x="8290665" y="980888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1193767" y="4574313"/>
            <a:ext cx="4586402" cy="539859"/>
          </a:xfrm>
          <a:prstGeom prst="parallelogram">
            <a:avLst>
              <a:gd name="adj" fmla="val 32056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"/>
            </p:custDataLst>
          </p:nvPr>
        </p:nvSpPr>
        <p:spPr>
          <a:xfrm>
            <a:off x="11129282" y="3612289"/>
            <a:ext cx="1054305" cy="3244922"/>
          </a:xfrm>
          <a:custGeom>
            <a:avLst/>
            <a:gdLst>
              <a:gd name="connsiteX0" fmla="*/ 1054580 w 1054580"/>
              <a:gd name="connsiteY0" fmla="*/ 0 h 3245767"/>
              <a:gd name="connsiteX1" fmla="*/ 1054548 w 1054580"/>
              <a:gd name="connsiteY1" fmla="*/ 3245767 h 3245767"/>
              <a:gd name="connsiteX2" fmla="*/ 0 w 1054580"/>
              <a:gd name="connsiteY2" fmla="*/ 3245663 h 3245767"/>
              <a:gd name="connsiteX3" fmla="*/ 1054580 w 1054580"/>
              <a:gd name="connsiteY3" fmla="*/ 0 h 324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4580" h="3245767">
                <a:moveTo>
                  <a:pt x="1054580" y="0"/>
                </a:moveTo>
                <a:lnTo>
                  <a:pt x="1054548" y="3245767"/>
                </a:lnTo>
                <a:lnTo>
                  <a:pt x="0" y="3245663"/>
                </a:lnTo>
                <a:lnTo>
                  <a:pt x="105458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34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34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0" name="图片 19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alphaModFix amt="57000"/>
          </a:blip>
          <a:srcRect l="40367" r="44843" b="27704"/>
          <a:stretch>
            <a:fillRect/>
          </a:stretch>
        </p:blipFill>
        <p:spPr>
          <a:xfrm rot="1080000">
            <a:off x="11493755" y="3537665"/>
            <a:ext cx="298235" cy="3449948"/>
          </a:xfrm>
          <a:custGeom>
            <a:avLst/>
            <a:gdLst>
              <a:gd name="connsiteX0" fmla="*/ 0 w 298313"/>
              <a:gd name="connsiteY0" fmla="*/ 0 h 3450847"/>
              <a:gd name="connsiteX1" fmla="*/ 157222 w 298313"/>
              <a:gd name="connsiteY1" fmla="*/ 0 h 3450847"/>
              <a:gd name="connsiteX2" fmla="*/ 298313 w 298313"/>
              <a:gd name="connsiteY2" fmla="*/ 434232 h 3450847"/>
              <a:gd name="connsiteX3" fmla="*/ 298313 w 298313"/>
              <a:gd name="connsiteY3" fmla="*/ 3353920 h 3450847"/>
              <a:gd name="connsiteX4" fmla="*/ 1 w 298313"/>
              <a:gd name="connsiteY4" fmla="*/ 3450847 h 3450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" h="5434">
                <a:moveTo>
                  <a:pt x="0" y="0"/>
                </a:moveTo>
                <a:lnTo>
                  <a:pt x="248" y="0"/>
                </a:lnTo>
                <a:lnTo>
                  <a:pt x="470" y="684"/>
                </a:lnTo>
                <a:lnTo>
                  <a:pt x="470" y="5282"/>
                </a:lnTo>
                <a:lnTo>
                  <a:pt x="0" y="5434"/>
                </a:lnTo>
                <a:lnTo>
                  <a:pt x="0" y="543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任意多边形 8"/>
          <p:cNvSpPr/>
          <p:nvPr userDrawn="1">
            <p:custDataLst>
              <p:tags r:id="rId7"/>
            </p:custDataLst>
          </p:nvPr>
        </p:nvSpPr>
        <p:spPr>
          <a:xfrm rot="16200000">
            <a:off x="2178752" y="-1612857"/>
            <a:ext cx="1090011" cy="54475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99" h="3780">
                <a:moveTo>
                  <a:pt x="0" y="0"/>
                </a:moveTo>
                <a:lnTo>
                  <a:pt x="2299" y="0"/>
                </a:lnTo>
                <a:lnTo>
                  <a:pt x="2299" y="3780"/>
                </a:lnTo>
                <a:lnTo>
                  <a:pt x="0" y="37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3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chemeClr val="lt1"/>
                </a:solidFill>
              </a:rPr>
              <a:t>       </a:t>
            </a:r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868454" y="565896"/>
            <a:ext cx="1738177" cy="1090011"/>
          </a:xfrm>
        </p:spPr>
        <p:txBody>
          <a:bodyPr wrap="square" anchor="ctr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6" name="任意多边形: 形状 25"/>
          <p:cNvSpPr/>
          <p:nvPr userDrawn="1">
            <p:custDataLst>
              <p:tags r:id="rId12"/>
            </p:custDataLst>
          </p:nvPr>
        </p:nvSpPr>
        <p:spPr>
          <a:xfrm>
            <a:off x="9861408" y="3256618"/>
            <a:ext cx="2317875" cy="3600489"/>
          </a:xfrm>
          <a:custGeom>
            <a:avLst/>
            <a:gdLst>
              <a:gd name="connsiteX0" fmla="*/ 1170174 w 2318479"/>
              <a:gd name="connsiteY0" fmla="*/ 0 h 3601427"/>
              <a:gd name="connsiteX1" fmla="*/ 2318478 w 2318479"/>
              <a:gd name="connsiteY1" fmla="*/ 17 h 3601427"/>
              <a:gd name="connsiteX2" fmla="*/ 2318479 w 2318479"/>
              <a:gd name="connsiteY2" fmla="*/ 32490 h 3601427"/>
              <a:gd name="connsiteX3" fmla="*/ 1158862 w 2318479"/>
              <a:gd name="connsiteY3" fmla="*/ 3601427 h 3601427"/>
              <a:gd name="connsiteX4" fmla="*/ 0 w 2318479"/>
              <a:gd name="connsiteY4" fmla="*/ 3601427 h 3601427"/>
              <a:gd name="connsiteX5" fmla="*/ 1170174 w 2318479"/>
              <a:gd name="connsiteY5" fmla="*/ 0 h 360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8479" h="3601427">
                <a:moveTo>
                  <a:pt x="1170174" y="0"/>
                </a:moveTo>
                <a:lnTo>
                  <a:pt x="2318478" y="17"/>
                </a:lnTo>
                <a:lnTo>
                  <a:pt x="2318479" y="32490"/>
                </a:lnTo>
                <a:lnTo>
                  <a:pt x="1158862" y="3601427"/>
                </a:lnTo>
                <a:lnTo>
                  <a:pt x="0" y="3601427"/>
                </a:lnTo>
                <a:lnTo>
                  <a:pt x="117017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23000"/>
                </a:schemeClr>
              </a:gs>
              <a:gs pos="72000">
                <a:schemeClr val="accent1">
                  <a:alpha val="0"/>
                  <a:lumMod val="94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21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5870646" y="4538773"/>
            <a:ext cx="447533" cy="67854"/>
          </a:xfrm>
          <a:custGeom>
            <a:avLst/>
            <a:gdLst>
              <a:gd name="connsiteX0" fmla="*/ 413714 w 447650"/>
              <a:gd name="connsiteY0" fmla="*/ 0 h 67872"/>
              <a:gd name="connsiteX1" fmla="*/ 447650 w 447650"/>
              <a:gd name="connsiteY1" fmla="*/ 33936 h 67872"/>
              <a:gd name="connsiteX2" fmla="*/ 413714 w 447650"/>
              <a:gd name="connsiteY2" fmla="*/ 67872 h 67872"/>
              <a:gd name="connsiteX3" fmla="*/ 379778 w 447650"/>
              <a:gd name="connsiteY3" fmla="*/ 33936 h 67872"/>
              <a:gd name="connsiteX4" fmla="*/ 413714 w 447650"/>
              <a:gd name="connsiteY4" fmla="*/ 0 h 67872"/>
              <a:gd name="connsiteX5" fmla="*/ 287122 w 447650"/>
              <a:gd name="connsiteY5" fmla="*/ 0 h 67872"/>
              <a:gd name="connsiteX6" fmla="*/ 321058 w 447650"/>
              <a:gd name="connsiteY6" fmla="*/ 33936 h 67872"/>
              <a:gd name="connsiteX7" fmla="*/ 287122 w 447650"/>
              <a:gd name="connsiteY7" fmla="*/ 67872 h 67872"/>
              <a:gd name="connsiteX8" fmla="*/ 253186 w 447650"/>
              <a:gd name="connsiteY8" fmla="*/ 33936 h 67872"/>
              <a:gd name="connsiteX9" fmla="*/ 287122 w 447650"/>
              <a:gd name="connsiteY9" fmla="*/ 0 h 67872"/>
              <a:gd name="connsiteX10" fmla="*/ 160529 w 447650"/>
              <a:gd name="connsiteY10" fmla="*/ 0 h 67872"/>
              <a:gd name="connsiteX11" fmla="*/ 194465 w 447650"/>
              <a:gd name="connsiteY11" fmla="*/ 33936 h 67872"/>
              <a:gd name="connsiteX12" fmla="*/ 160529 w 447650"/>
              <a:gd name="connsiteY12" fmla="*/ 67872 h 67872"/>
              <a:gd name="connsiteX13" fmla="*/ 126593 w 447650"/>
              <a:gd name="connsiteY13" fmla="*/ 33936 h 67872"/>
              <a:gd name="connsiteX14" fmla="*/ 160529 w 447650"/>
              <a:gd name="connsiteY14" fmla="*/ 0 h 67872"/>
              <a:gd name="connsiteX15" fmla="*/ 33936 w 447650"/>
              <a:gd name="connsiteY15" fmla="*/ 0 h 67872"/>
              <a:gd name="connsiteX16" fmla="*/ 67872 w 447650"/>
              <a:gd name="connsiteY16" fmla="*/ 33936 h 67872"/>
              <a:gd name="connsiteX17" fmla="*/ 33936 w 447650"/>
              <a:gd name="connsiteY17" fmla="*/ 67872 h 67872"/>
              <a:gd name="connsiteX18" fmla="*/ 0 w 447650"/>
              <a:gd name="connsiteY18" fmla="*/ 33936 h 67872"/>
              <a:gd name="connsiteX19" fmla="*/ 33936 w 447650"/>
              <a:gd name="connsiteY19" fmla="*/ 0 h 67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7650" h="67872">
                <a:moveTo>
                  <a:pt x="413714" y="0"/>
                </a:moveTo>
                <a:cubicBezTo>
                  <a:pt x="432456" y="0"/>
                  <a:pt x="447650" y="15194"/>
                  <a:pt x="447650" y="33936"/>
                </a:cubicBezTo>
                <a:cubicBezTo>
                  <a:pt x="447650" y="52678"/>
                  <a:pt x="432456" y="67872"/>
                  <a:pt x="413714" y="67872"/>
                </a:cubicBezTo>
                <a:cubicBezTo>
                  <a:pt x="394972" y="67872"/>
                  <a:pt x="379778" y="52678"/>
                  <a:pt x="379778" y="33936"/>
                </a:cubicBezTo>
                <a:cubicBezTo>
                  <a:pt x="379778" y="15194"/>
                  <a:pt x="394972" y="0"/>
                  <a:pt x="413714" y="0"/>
                </a:cubicBezTo>
                <a:close/>
                <a:moveTo>
                  <a:pt x="287122" y="0"/>
                </a:moveTo>
                <a:cubicBezTo>
                  <a:pt x="305864" y="0"/>
                  <a:pt x="321058" y="15194"/>
                  <a:pt x="321058" y="33936"/>
                </a:cubicBezTo>
                <a:cubicBezTo>
                  <a:pt x="321058" y="52678"/>
                  <a:pt x="305864" y="67872"/>
                  <a:pt x="287122" y="67872"/>
                </a:cubicBezTo>
                <a:cubicBezTo>
                  <a:pt x="268380" y="67872"/>
                  <a:pt x="253186" y="52678"/>
                  <a:pt x="253186" y="33936"/>
                </a:cubicBezTo>
                <a:cubicBezTo>
                  <a:pt x="253186" y="15194"/>
                  <a:pt x="268380" y="0"/>
                  <a:pt x="287122" y="0"/>
                </a:cubicBezTo>
                <a:close/>
                <a:moveTo>
                  <a:pt x="160529" y="0"/>
                </a:moveTo>
                <a:cubicBezTo>
                  <a:pt x="179271" y="0"/>
                  <a:pt x="194465" y="15194"/>
                  <a:pt x="194465" y="33936"/>
                </a:cubicBezTo>
                <a:cubicBezTo>
                  <a:pt x="194465" y="52678"/>
                  <a:pt x="179271" y="67872"/>
                  <a:pt x="160529" y="67872"/>
                </a:cubicBezTo>
                <a:cubicBezTo>
                  <a:pt x="141787" y="67872"/>
                  <a:pt x="126593" y="52678"/>
                  <a:pt x="126593" y="33936"/>
                </a:cubicBezTo>
                <a:cubicBezTo>
                  <a:pt x="126593" y="15194"/>
                  <a:pt x="141787" y="0"/>
                  <a:pt x="160529" y="0"/>
                </a:cubicBezTo>
                <a:close/>
                <a:moveTo>
                  <a:pt x="33936" y="0"/>
                </a:moveTo>
                <a:cubicBezTo>
                  <a:pt x="52678" y="0"/>
                  <a:pt x="67872" y="15194"/>
                  <a:pt x="67872" y="33936"/>
                </a:cubicBezTo>
                <a:cubicBezTo>
                  <a:pt x="67872" y="52678"/>
                  <a:pt x="52678" y="67872"/>
                  <a:pt x="33936" y="67872"/>
                </a:cubicBezTo>
                <a:cubicBezTo>
                  <a:pt x="15194" y="67872"/>
                  <a:pt x="0" y="52678"/>
                  <a:pt x="0" y="33936"/>
                </a:cubicBezTo>
                <a:cubicBezTo>
                  <a:pt x="0" y="15194"/>
                  <a:pt x="15194" y="0"/>
                  <a:pt x="3393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pic>
        <p:nvPicPr>
          <p:cNvPr id="12" name="图片 11" descr="未标题-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34000"/>
          </a:blip>
          <a:srcRect l="43824" t="11332" r="47950"/>
          <a:stretch>
            <a:fillRect/>
          </a:stretch>
        </p:blipFill>
        <p:spPr>
          <a:xfrm rot="20520000" flipH="1">
            <a:off x="3370090" y="-100079"/>
            <a:ext cx="215209" cy="548483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0">
                <a:moveTo>
                  <a:pt x="339" y="0"/>
                </a:moveTo>
                <a:lnTo>
                  <a:pt x="339" y="8640"/>
                </a:lnTo>
                <a:lnTo>
                  <a:pt x="0" y="8640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pic>
        <p:nvPicPr>
          <p:cNvPr id="13" name="图片 12" descr="未标题-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5">
            <a:alphaModFix amt="34000"/>
          </a:blip>
          <a:srcRect l="43824" t="11321" r="47950"/>
          <a:stretch>
            <a:fillRect/>
          </a:stretch>
        </p:blipFill>
        <p:spPr>
          <a:xfrm rot="20520000" flipH="1">
            <a:off x="8213774" y="-74702"/>
            <a:ext cx="215209" cy="548550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9" h="8641">
                <a:moveTo>
                  <a:pt x="339" y="0"/>
                </a:moveTo>
                <a:lnTo>
                  <a:pt x="339" y="8641"/>
                </a:lnTo>
                <a:lnTo>
                  <a:pt x="0" y="8641"/>
                </a:lnTo>
                <a:lnTo>
                  <a:pt x="0" y="110"/>
                </a:lnTo>
                <a:lnTo>
                  <a:pt x="339" y="0"/>
                </a:lnTo>
                <a:close/>
              </a:path>
            </a:pathLst>
          </a:custGeom>
        </p:spPr>
      </p:pic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526003" y="3038651"/>
            <a:ext cx="9141619" cy="1199762"/>
          </a:xfrm>
        </p:spPr>
        <p:txBody>
          <a:bodyPr wrap="square" anchor="t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523603" y="1610949"/>
            <a:ext cx="9141619" cy="122368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7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50" name="任意多边形: 形状 49"/>
          <p:cNvSpPr/>
          <p:nvPr userDrawn="1">
            <p:custDataLst>
              <p:tags r:id="rId12"/>
            </p:custDataLst>
          </p:nvPr>
        </p:nvSpPr>
        <p:spPr>
          <a:xfrm>
            <a:off x="2601453" y="1529"/>
            <a:ext cx="7008746" cy="6855578"/>
          </a:xfrm>
          <a:custGeom>
            <a:avLst/>
            <a:gdLst>
              <a:gd name="connsiteX0" fmla="*/ 0 w 7010572"/>
              <a:gd name="connsiteY0" fmla="*/ 0 h 6857364"/>
              <a:gd name="connsiteX1" fmla="*/ 4832696 w 7010572"/>
              <a:gd name="connsiteY1" fmla="*/ 118 h 6857364"/>
              <a:gd name="connsiteX2" fmla="*/ 7010572 w 7010572"/>
              <a:gd name="connsiteY2" fmla="*/ 6702934 h 6857364"/>
              <a:gd name="connsiteX3" fmla="*/ 6535285 w 7010572"/>
              <a:gd name="connsiteY3" fmla="*/ 6857364 h 6857364"/>
              <a:gd name="connsiteX4" fmla="*/ 2228093 w 7010572"/>
              <a:gd name="connsiteY4" fmla="*/ 6857364 h 685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0572" h="6857364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5" y="6857364"/>
                </a:lnTo>
                <a:lnTo>
                  <a:pt x="2228093" y="685736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30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3"/>
            </p:custDataLst>
          </p:nvPr>
        </p:nvSpPr>
        <p:spPr>
          <a:xfrm>
            <a:off x="1193120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7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14"/>
            </p:custDataLst>
          </p:nvPr>
        </p:nvSpPr>
        <p:spPr>
          <a:xfrm>
            <a:off x="7532115" y="2231076"/>
            <a:ext cx="3918540" cy="4625405"/>
          </a:xfrm>
          <a:custGeom>
            <a:avLst/>
            <a:gdLst>
              <a:gd name="connsiteX0" fmla="*/ 2416287 w 3919561"/>
              <a:gd name="connsiteY0" fmla="*/ 0 h 4626610"/>
              <a:gd name="connsiteX1" fmla="*/ 3919561 w 3919561"/>
              <a:gd name="connsiteY1" fmla="*/ 4626601 h 4626610"/>
              <a:gd name="connsiteX2" fmla="*/ 1248182 w 3919561"/>
              <a:gd name="connsiteY2" fmla="*/ 4626610 h 4626610"/>
              <a:gd name="connsiteX3" fmla="*/ 0 w 3919561"/>
              <a:gd name="connsiteY3" fmla="*/ 785099 h 4626610"/>
              <a:gd name="connsiteX4" fmla="*/ 2416287 w 3919561"/>
              <a:gd name="connsiteY4" fmla="*/ 0 h 4626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9561" h="4626610">
                <a:moveTo>
                  <a:pt x="2416287" y="0"/>
                </a:moveTo>
                <a:lnTo>
                  <a:pt x="3919561" y="4626601"/>
                </a:lnTo>
                <a:lnTo>
                  <a:pt x="1248182" y="4626610"/>
                </a:lnTo>
                <a:lnTo>
                  <a:pt x="0" y="785099"/>
                </a:lnTo>
                <a:lnTo>
                  <a:pt x="2416287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5000"/>
                </a:schemeClr>
              </a:gs>
              <a:gs pos="72000">
                <a:schemeClr val="accent1">
                  <a:alpha val="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5000">
                  <a:schemeClr val="accent1">
                    <a:alpha val="19000"/>
                  </a:schemeClr>
                </a:gs>
                <a:gs pos="41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15"/>
            </p:custDataLst>
          </p:nvPr>
        </p:nvSpPr>
        <p:spPr>
          <a:xfrm>
            <a:off x="11182819" y="893"/>
            <a:ext cx="1006006" cy="2921650"/>
          </a:xfrm>
          <a:custGeom>
            <a:avLst/>
            <a:gdLst>
              <a:gd name="connsiteX0" fmla="*/ 0 w 1006268"/>
              <a:gd name="connsiteY0" fmla="*/ 0 h 2922411"/>
              <a:gd name="connsiteX1" fmla="*/ 5525 w 1006268"/>
              <a:gd name="connsiteY1" fmla="*/ 0 h 2922411"/>
              <a:gd name="connsiteX2" fmla="*/ 1006268 w 1006268"/>
              <a:gd name="connsiteY2" fmla="*/ 74 h 2922411"/>
              <a:gd name="connsiteX3" fmla="*/ 1006268 w 1006268"/>
              <a:gd name="connsiteY3" fmla="*/ 2810981 h 2922411"/>
              <a:gd name="connsiteX4" fmla="*/ 1006268 w 1006268"/>
              <a:gd name="connsiteY4" fmla="*/ 2922411 h 2922411"/>
              <a:gd name="connsiteX5" fmla="*/ 0 w 1006268"/>
              <a:gd name="connsiteY5" fmla="*/ 0 h 2922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6268" h="2922411">
                <a:moveTo>
                  <a:pt x="0" y="0"/>
                </a:moveTo>
                <a:lnTo>
                  <a:pt x="5525" y="0"/>
                </a:lnTo>
                <a:lnTo>
                  <a:pt x="1006268" y="74"/>
                </a:lnTo>
                <a:lnTo>
                  <a:pt x="1006268" y="2810981"/>
                </a:lnTo>
                <a:lnTo>
                  <a:pt x="1006268" y="29224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16"/>
            </p:custDataLst>
          </p:nvPr>
        </p:nvSpPr>
        <p:spPr>
          <a:xfrm>
            <a:off x="1" y="5242231"/>
            <a:ext cx="555827" cy="1614254"/>
          </a:xfrm>
          <a:custGeom>
            <a:avLst/>
            <a:gdLst>
              <a:gd name="connsiteX0" fmla="*/ 0 w 555972"/>
              <a:gd name="connsiteY0" fmla="*/ 0 h 1614674"/>
              <a:gd name="connsiteX1" fmla="*/ 555972 w 555972"/>
              <a:gd name="connsiteY1" fmla="*/ 1614662 h 1614674"/>
              <a:gd name="connsiteX2" fmla="*/ 3 w 555972"/>
              <a:gd name="connsiteY2" fmla="*/ 1614674 h 1614674"/>
              <a:gd name="connsiteX3" fmla="*/ 0 w 555972"/>
              <a:gd name="connsiteY3" fmla="*/ 257965 h 1614674"/>
              <a:gd name="connsiteX4" fmla="*/ 0 w 555972"/>
              <a:gd name="connsiteY4" fmla="*/ 0 h 161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72" h="1614674">
                <a:moveTo>
                  <a:pt x="0" y="0"/>
                </a:moveTo>
                <a:lnTo>
                  <a:pt x="555972" y="1614662"/>
                </a:lnTo>
                <a:lnTo>
                  <a:pt x="3" y="1614674"/>
                </a:lnTo>
                <a:lnTo>
                  <a:pt x="0" y="25796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30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95779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170593" y="1302304"/>
            <a:ext cx="5322454" cy="487458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95779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170593" y="1302304"/>
            <a:ext cx="5322454" cy="411196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170593" y="1875504"/>
            <a:ext cx="5322454" cy="429915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内容占位符 1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95779" y="360844"/>
            <a:ext cx="10799172" cy="581635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95779" y="1302304"/>
            <a:ext cx="10796276" cy="405447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 flipH="1" flipV="1">
            <a:off x="0" y="1816520"/>
            <a:ext cx="7313295" cy="5040587"/>
          </a:xfrm>
          <a:prstGeom prst="rect">
            <a:avLst/>
          </a:prstGeom>
          <a:gradFill flip="none" rotWithShape="1">
            <a:gsLst>
              <a:gs pos="36000">
                <a:schemeClr val="accent1">
                  <a:alpha val="0"/>
                </a:schemeClr>
              </a:gs>
              <a:gs pos="100000">
                <a:schemeClr val="accent1">
                  <a:alpha val="9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7346492" y="893"/>
            <a:ext cx="4842333" cy="3859795"/>
          </a:xfrm>
          <a:prstGeom prst="rect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7" name="图片 16" descr="未标题-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l="45913" r="48144"/>
          <a:stretch>
            <a:fillRect/>
          </a:stretch>
        </p:blipFill>
        <p:spPr>
          <a:xfrm rot="1080000">
            <a:off x="9083262" y="249113"/>
            <a:ext cx="155486" cy="6185829"/>
          </a:xfrm>
          <a:prstGeom prst="rect">
            <a:avLst/>
          </a:prstGeom>
        </p:spPr>
      </p:pic>
      <p:pic>
        <p:nvPicPr>
          <p:cNvPr id="19" name="图片 18" descr="未标题-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6"/>
          <a:srcRect l="40367" r="44843"/>
          <a:stretch>
            <a:fillRect/>
          </a:stretch>
        </p:blipFill>
        <p:spPr>
          <a:xfrm rot="1080000">
            <a:off x="10548745" y="224355"/>
            <a:ext cx="386916" cy="6185829"/>
          </a:xfrm>
          <a:prstGeom prst="rect">
            <a:avLst/>
          </a:prstGeom>
        </p:spPr>
      </p:pic>
      <p:pic>
        <p:nvPicPr>
          <p:cNvPr id="21" name="图片 20" descr="未标题-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6"/>
          <a:srcRect l="43824" r="47950"/>
          <a:stretch>
            <a:fillRect/>
          </a:stretch>
        </p:blipFill>
        <p:spPr>
          <a:xfrm rot="1080000">
            <a:off x="7353290" y="241495"/>
            <a:ext cx="215209" cy="6185829"/>
          </a:xfrm>
          <a:prstGeom prst="rect">
            <a:avLst/>
          </a:prstGeom>
        </p:spPr>
      </p:pic>
      <p:cxnSp>
        <p:nvCxnSpPr>
          <p:cNvPr id="23" name="直接连接符 22"/>
          <p:cNvCxnSpPr/>
          <p:nvPr userDrawn="1">
            <p:custDataLst>
              <p:tags r:id="rId9"/>
            </p:custDataLst>
          </p:nvPr>
        </p:nvCxnSpPr>
        <p:spPr>
          <a:xfrm flipH="1">
            <a:off x="1282366" y="1042657"/>
            <a:ext cx="274883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10"/>
            </p:custDataLst>
          </p:nvPr>
        </p:nvCxnSpPr>
        <p:spPr>
          <a:xfrm flipH="1">
            <a:off x="1282366" y="1137247"/>
            <a:ext cx="184737" cy="0"/>
          </a:xfrm>
          <a:prstGeom prst="line">
            <a:avLst/>
          </a:prstGeom>
          <a:ln w="19050" cap="rnd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08358" y="6355588"/>
            <a:ext cx="2742486" cy="365030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 flipH="1" flipV="1">
            <a:off x="5065145" y="893"/>
            <a:ext cx="3304816" cy="6856214"/>
          </a:xfrm>
          <a:custGeom>
            <a:avLst/>
            <a:gdLst>
              <a:gd name="connsiteX0" fmla="*/ 2228731 w 3305677"/>
              <a:gd name="connsiteY0" fmla="*/ 0 h 6859386"/>
              <a:gd name="connsiteX1" fmla="*/ 3305677 w 3305677"/>
              <a:gd name="connsiteY1" fmla="*/ 58 h 6859386"/>
              <a:gd name="connsiteX2" fmla="*/ 1076947 w 3305677"/>
              <a:gd name="connsiteY2" fmla="*/ 6859386 h 6859386"/>
              <a:gd name="connsiteX3" fmla="*/ 0 w 3305677"/>
              <a:gd name="connsiteY3" fmla="*/ 6859328 h 6859386"/>
              <a:gd name="connsiteX4" fmla="*/ 2228731 w 3305677"/>
              <a:gd name="connsiteY4" fmla="*/ 0 h 685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5677" h="6859386">
                <a:moveTo>
                  <a:pt x="2228731" y="0"/>
                </a:moveTo>
                <a:lnTo>
                  <a:pt x="3305677" y="58"/>
                </a:lnTo>
                <a:lnTo>
                  <a:pt x="1076947" y="6859386"/>
                </a:lnTo>
                <a:lnTo>
                  <a:pt x="0" y="6859328"/>
                </a:lnTo>
                <a:lnTo>
                  <a:pt x="2228731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9000"/>
                </a:schemeClr>
              </a:gs>
              <a:gs pos="4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5"/>
            </p:custDataLst>
          </p:nvPr>
        </p:nvSpPr>
        <p:spPr>
          <a:xfrm flipH="1" flipV="1">
            <a:off x="7991419" y="893"/>
            <a:ext cx="3730016" cy="6856214"/>
          </a:xfrm>
          <a:custGeom>
            <a:avLst/>
            <a:gdLst>
              <a:gd name="connsiteX0" fmla="*/ 2228726 w 3730988"/>
              <a:gd name="connsiteY0" fmla="*/ 0 h 6859357"/>
              <a:gd name="connsiteX1" fmla="*/ 3730988 w 3730988"/>
              <a:gd name="connsiteY1" fmla="*/ 43 h 6859357"/>
              <a:gd name="connsiteX2" fmla="*/ 1502262 w 3730988"/>
              <a:gd name="connsiteY2" fmla="*/ 6859357 h 6859357"/>
              <a:gd name="connsiteX3" fmla="*/ 0 w 3730988"/>
              <a:gd name="connsiteY3" fmla="*/ 6859314 h 6859357"/>
              <a:gd name="connsiteX4" fmla="*/ 2228726 w 3730988"/>
              <a:gd name="connsiteY4" fmla="*/ 0 h 6859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0988" h="6859357">
                <a:moveTo>
                  <a:pt x="2228726" y="0"/>
                </a:moveTo>
                <a:lnTo>
                  <a:pt x="3730988" y="43"/>
                </a:lnTo>
                <a:lnTo>
                  <a:pt x="1502262" y="6859357"/>
                </a:lnTo>
                <a:lnTo>
                  <a:pt x="0" y="6859314"/>
                </a:lnTo>
                <a:lnTo>
                  <a:pt x="222872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alpha val="0"/>
                  <a:lumMod val="94000"/>
                </a:schemeClr>
              </a:gs>
            </a:gsLst>
            <a:lin ang="5400000" scaled="0"/>
          </a:gradFill>
          <a:ln w="22225"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alpha val="30000"/>
                    <a:lumMod val="55000"/>
                    <a:lumOff val="45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pic>
        <p:nvPicPr>
          <p:cNvPr id="7" name="图片 6" descr="000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587907" y="893"/>
            <a:ext cx="2600918" cy="6856214"/>
          </a:xfrm>
          <a:prstGeom prst="rect">
            <a:avLst/>
          </a:prstGeom>
        </p:spPr>
      </p:pic>
      <p:pic>
        <p:nvPicPr>
          <p:cNvPr id="11" name="图片 10" descr="001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1366079" y="4339988"/>
            <a:ext cx="822746" cy="25171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1057000" y="2114040"/>
            <a:ext cx="7419013" cy="118007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1057000" y="3371415"/>
            <a:ext cx="7419013" cy="619461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22"/>
            </p:custDataLst>
          </p:nvPr>
        </p:nvSpPr>
        <p:spPr>
          <a:xfrm>
            <a:off x="8337680" y="847572"/>
            <a:ext cx="2879250" cy="503869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年号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3"/>
            </p:custDataLst>
          </p:nvPr>
        </p:nvSpPr>
        <p:spPr>
          <a:xfrm>
            <a:off x="1054732" y="4307941"/>
            <a:ext cx="4320601" cy="539859"/>
          </a:xfrm>
          <a:prstGeom prst="parallelogram">
            <a:avLst>
              <a:gd name="adj" fmla="val 31585"/>
            </a:avLst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82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gradFill>
              <a:gsLst>
                <a:gs pos="1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>
              <a:buNone/>
              <a:defRPr lang="zh-CN" altLang="en-US" sz="16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>
            <p:custDataLst>
              <p:tags r:id="rId24"/>
            </p:custDataLst>
          </p:nvPr>
        </p:nvSpPr>
        <p:spPr>
          <a:xfrm flipH="1" flipV="1">
            <a:off x="6345807" y="893"/>
            <a:ext cx="3707358" cy="6856214"/>
          </a:xfrm>
          <a:custGeom>
            <a:avLst/>
            <a:gdLst>
              <a:gd name="connsiteX0" fmla="*/ 3702919 w 3702919"/>
              <a:gd name="connsiteY0" fmla="*/ 0 h 6795487"/>
              <a:gd name="connsiteX1" fmla="*/ 1549382 w 3702919"/>
              <a:gd name="connsiteY1" fmla="*/ 6627908 h 6795487"/>
              <a:gd name="connsiteX2" fmla="*/ 0 w 3702919"/>
              <a:gd name="connsiteY2" fmla="*/ 6795487 h 6795487"/>
              <a:gd name="connsiteX3" fmla="*/ 2207891 w 3702919"/>
              <a:gd name="connsiteY3" fmla="*/ 297 h 6795487"/>
              <a:gd name="connsiteX4" fmla="*/ 3702919 w 3702919"/>
              <a:gd name="connsiteY4" fmla="*/ 0 h 6795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40" h="10801">
                <a:moveTo>
                  <a:pt x="5840" y="0"/>
                </a:moveTo>
                <a:lnTo>
                  <a:pt x="2396" y="10782"/>
                </a:lnTo>
                <a:lnTo>
                  <a:pt x="2227" y="10801"/>
                </a:lnTo>
                <a:lnTo>
                  <a:pt x="0" y="10801"/>
                </a:lnTo>
                <a:lnTo>
                  <a:pt x="3449" y="0"/>
                </a:lnTo>
                <a:lnTo>
                  <a:pt x="584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  <a:lumMod val="10000"/>
                  <a:lumOff val="90000"/>
                </a:schemeClr>
              </a:gs>
              <a:gs pos="52000">
                <a:schemeClr val="accent1">
                  <a:lumMod val="10000"/>
                  <a:lumOff val="90000"/>
                  <a:alpha val="0"/>
                </a:schemeClr>
              </a:gs>
            </a:gsLst>
            <a:lin ang="12000000" scaled="0"/>
          </a:gradFill>
          <a:ln>
            <a:gradFill>
              <a:gsLst>
                <a:gs pos="9000">
                  <a:schemeClr val="accent1">
                    <a:alpha val="0"/>
                  </a:schemeClr>
                </a:gs>
                <a:gs pos="51000">
                  <a:schemeClr val="accent1">
                    <a:lumMod val="55000"/>
                    <a:lumOff val="45000"/>
                    <a:alpha val="13000"/>
                  </a:schemeClr>
                </a:gs>
                <a:gs pos="80000">
                  <a:schemeClr val="accent1">
                    <a:alpha val="0"/>
                  </a:schemeClr>
                </a:gs>
              </a:gsLst>
              <a:lin ang="534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 userDrawn="1"/>
        </p:nvGrpSpPr>
        <p:grpSpPr bwMode="auto">
          <a:xfrm flipH="1">
            <a:off x="9748967" y="-144084"/>
            <a:ext cx="2439856" cy="886688"/>
            <a:chOff x="0" y="2"/>
            <a:chExt cx="1745" cy="634"/>
          </a:xfrm>
        </p:grpSpPr>
        <p:sp>
          <p:nvSpPr>
            <p:cNvPr id="33" name="Freeform 5"/>
            <p:cNvSpPr/>
            <p:nvPr userDrawn="1"/>
          </p:nvSpPr>
          <p:spPr bwMode="auto">
            <a:xfrm>
              <a:off x="0" y="2"/>
              <a:ext cx="1745" cy="634"/>
            </a:xfrm>
            <a:custGeom>
              <a:avLst/>
              <a:gdLst>
                <a:gd name="T0" fmla="*/ 723 w 733"/>
                <a:gd name="T1" fmla="*/ 0 h 264"/>
                <a:gd name="T2" fmla="*/ 685 w 733"/>
                <a:gd name="T3" fmla="*/ 91 h 264"/>
                <a:gd name="T4" fmla="*/ 620 w 733"/>
                <a:gd name="T5" fmla="*/ 170 h 264"/>
                <a:gd name="T6" fmla="*/ 358 w 733"/>
                <a:gd name="T7" fmla="*/ 210 h 264"/>
                <a:gd name="T8" fmla="*/ 238 w 733"/>
                <a:gd name="T9" fmla="*/ 113 h 264"/>
                <a:gd name="T10" fmla="*/ 126 w 733"/>
                <a:gd name="T11" fmla="*/ 78 h 264"/>
                <a:gd name="T12" fmla="*/ 63 w 733"/>
                <a:gd name="T13" fmla="*/ 70 h 264"/>
                <a:gd name="T14" fmla="*/ 0 w 733"/>
                <a:gd name="T15" fmla="*/ 0 h 264"/>
                <a:gd name="T16" fmla="*/ 362 w 733"/>
                <a:gd name="T17" fmla="*/ 0 h 264"/>
                <a:gd name="T18" fmla="*/ 541 w 733"/>
                <a:gd name="T19" fmla="*/ 0 h 264"/>
                <a:gd name="T20" fmla="*/ 723 w 733"/>
                <a:gd name="T2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3" h="264">
                  <a:moveTo>
                    <a:pt x="723" y="0"/>
                  </a:moveTo>
                  <a:cubicBezTo>
                    <a:pt x="733" y="0"/>
                    <a:pt x="689" y="85"/>
                    <a:pt x="685" y="91"/>
                  </a:cubicBezTo>
                  <a:cubicBezTo>
                    <a:pt x="666" y="120"/>
                    <a:pt x="646" y="147"/>
                    <a:pt x="620" y="170"/>
                  </a:cubicBezTo>
                  <a:cubicBezTo>
                    <a:pt x="551" y="234"/>
                    <a:pt x="444" y="264"/>
                    <a:pt x="358" y="210"/>
                  </a:cubicBezTo>
                  <a:cubicBezTo>
                    <a:pt x="309" y="179"/>
                    <a:pt x="284" y="146"/>
                    <a:pt x="238" y="113"/>
                  </a:cubicBezTo>
                  <a:cubicBezTo>
                    <a:pt x="207" y="91"/>
                    <a:pt x="165" y="80"/>
                    <a:pt x="126" y="78"/>
                  </a:cubicBezTo>
                  <a:cubicBezTo>
                    <a:pt x="100" y="76"/>
                    <a:pt x="88" y="76"/>
                    <a:pt x="63" y="70"/>
                  </a:cubicBezTo>
                  <a:cubicBezTo>
                    <a:pt x="38" y="63"/>
                    <a:pt x="4" y="24"/>
                    <a:pt x="0" y="0"/>
                  </a:cubicBezTo>
                  <a:cubicBezTo>
                    <a:pt x="120" y="0"/>
                    <a:pt x="241" y="0"/>
                    <a:pt x="362" y="0"/>
                  </a:cubicBezTo>
                  <a:cubicBezTo>
                    <a:pt x="422" y="0"/>
                    <a:pt x="481" y="0"/>
                    <a:pt x="541" y="0"/>
                  </a:cubicBezTo>
                  <a:cubicBezTo>
                    <a:pt x="599" y="0"/>
                    <a:pt x="666" y="0"/>
                    <a:pt x="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34" name="Freeform 6"/>
            <p:cNvSpPr/>
            <p:nvPr userDrawn="1"/>
          </p:nvSpPr>
          <p:spPr bwMode="auto">
            <a:xfrm>
              <a:off x="0" y="74"/>
              <a:ext cx="1726" cy="540"/>
            </a:xfrm>
            <a:custGeom>
              <a:avLst/>
              <a:gdLst>
                <a:gd name="T0" fmla="*/ 0 w 725"/>
                <a:gd name="T1" fmla="*/ 0 h 225"/>
                <a:gd name="T2" fmla="*/ 70 w 725"/>
                <a:gd name="T3" fmla="*/ 65 h 225"/>
                <a:gd name="T4" fmla="*/ 203 w 725"/>
                <a:gd name="T5" fmla="*/ 89 h 225"/>
                <a:gd name="T6" fmla="*/ 317 w 725"/>
                <a:gd name="T7" fmla="*/ 177 h 225"/>
                <a:gd name="T8" fmla="*/ 436 w 725"/>
                <a:gd name="T9" fmla="*/ 222 h 225"/>
                <a:gd name="T10" fmla="*/ 533 w 725"/>
                <a:gd name="T11" fmla="*/ 211 h 225"/>
                <a:gd name="T12" fmla="*/ 604 w 725"/>
                <a:gd name="T13" fmla="*/ 172 h 225"/>
                <a:gd name="T14" fmla="*/ 671 w 725"/>
                <a:gd name="T15" fmla="*/ 115 h 225"/>
                <a:gd name="T16" fmla="*/ 725 w 725"/>
                <a:gd name="T17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5" h="225">
                  <a:moveTo>
                    <a:pt x="0" y="0"/>
                  </a:moveTo>
                  <a:cubicBezTo>
                    <a:pt x="11" y="28"/>
                    <a:pt x="31" y="54"/>
                    <a:pt x="70" y="65"/>
                  </a:cubicBezTo>
                  <a:cubicBezTo>
                    <a:pt x="110" y="75"/>
                    <a:pt x="166" y="71"/>
                    <a:pt x="203" y="89"/>
                  </a:cubicBezTo>
                  <a:cubicBezTo>
                    <a:pt x="244" y="108"/>
                    <a:pt x="279" y="153"/>
                    <a:pt x="317" y="177"/>
                  </a:cubicBezTo>
                  <a:cubicBezTo>
                    <a:pt x="359" y="205"/>
                    <a:pt x="386" y="217"/>
                    <a:pt x="436" y="222"/>
                  </a:cubicBezTo>
                  <a:cubicBezTo>
                    <a:pt x="460" y="225"/>
                    <a:pt x="511" y="219"/>
                    <a:pt x="533" y="211"/>
                  </a:cubicBezTo>
                  <a:cubicBezTo>
                    <a:pt x="549" y="204"/>
                    <a:pt x="591" y="183"/>
                    <a:pt x="604" y="172"/>
                  </a:cubicBezTo>
                  <a:cubicBezTo>
                    <a:pt x="634" y="148"/>
                    <a:pt x="647" y="142"/>
                    <a:pt x="671" y="115"/>
                  </a:cubicBezTo>
                  <a:cubicBezTo>
                    <a:pt x="696" y="88"/>
                    <a:pt x="718" y="35"/>
                    <a:pt x="725" y="0"/>
                  </a:cubicBezTo>
                </a:path>
              </a:pathLst>
            </a:custGeom>
            <a:noFill/>
            <a:ln w="7938" cap="flat">
              <a:solidFill>
                <a:srgbClr val="3C5C9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43" name="Freeform 10"/>
          <p:cNvSpPr/>
          <p:nvPr userDrawn="1"/>
        </p:nvSpPr>
        <p:spPr bwMode="auto">
          <a:xfrm>
            <a:off x="11335881" y="5929745"/>
            <a:ext cx="1024466" cy="1006841"/>
          </a:xfrm>
          <a:custGeom>
            <a:avLst/>
            <a:gdLst>
              <a:gd name="T0" fmla="*/ 265 w 265"/>
              <a:gd name="T1" fmla="*/ 14 h 260"/>
              <a:gd name="T2" fmla="*/ 183 w 265"/>
              <a:gd name="T3" fmla="*/ 15 h 260"/>
              <a:gd name="T4" fmla="*/ 121 w 265"/>
              <a:gd name="T5" fmla="*/ 100 h 260"/>
              <a:gd name="T6" fmla="*/ 110 w 265"/>
              <a:gd name="T7" fmla="*/ 155 h 260"/>
              <a:gd name="T8" fmla="*/ 76 w 265"/>
              <a:gd name="T9" fmla="*/ 228 h 260"/>
              <a:gd name="T10" fmla="*/ 37 w 265"/>
              <a:gd name="T11" fmla="*/ 238 h 260"/>
              <a:gd name="T12" fmla="*/ 0 w 265"/>
              <a:gd name="T13" fmla="*/ 260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5" h="260">
                <a:moveTo>
                  <a:pt x="265" y="14"/>
                </a:moveTo>
                <a:cubicBezTo>
                  <a:pt x="236" y="6"/>
                  <a:pt x="211" y="0"/>
                  <a:pt x="183" y="15"/>
                </a:cubicBezTo>
                <a:cubicBezTo>
                  <a:pt x="150" y="33"/>
                  <a:pt x="132" y="65"/>
                  <a:pt x="121" y="100"/>
                </a:cubicBezTo>
                <a:cubicBezTo>
                  <a:pt x="116" y="118"/>
                  <a:pt x="112" y="137"/>
                  <a:pt x="110" y="155"/>
                </a:cubicBezTo>
                <a:cubicBezTo>
                  <a:pt x="106" y="184"/>
                  <a:pt x="105" y="214"/>
                  <a:pt x="76" y="228"/>
                </a:cubicBezTo>
                <a:cubicBezTo>
                  <a:pt x="63" y="234"/>
                  <a:pt x="50" y="236"/>
                  <a:pt x="37" y="238"/>
                </a:cubicBezTo>
                <a:cubicBezTo>
                  <a:pt x="23" y="242"/>
                  <a:pt x="7" y="248"/>
                  <a:pt x="0" y="260"/>
                </a:cubicBezTo>
              </a:path>
            </a:pathLst>
          </a:custGeom>
          <a:noFill/>
          <a:ln w="1905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sp>
        <p:nvSpPr>
          <p:cNvPr id="44" name="Freeform 11"/>
          <p:cNvSpPr/>
          <p:nvPr userDrawn="1"/>
        </p:nvSpPr>
        <p:spPr bwMode="auto">
          <a:xfrm>
            <a:off x="-332113" y="-65347"/>
            <a:ext cx="863031" cy="1661392"/>
          </a:xfrm>
          <a:custGeom>
            <a:avLst/>
            <a:gdLst>
              <a:gd name="T0" fmla="*/ 0 w 211"/>
              <a:gd name="T1" fmla="*/ 365 h 405"/>
              <a:gd name="T2" fmla="*/ 80 w 211"/>
              <a:gd name="T3" fmla="*/ 394 h 405"/>
              <a:gd name="T4" fmla="*/ 115 w 211"/>
              <a:gd name="T5" fmla="*/ 350 h 405"/>
              <a:gd name="T6" fmla="*/ 103 w 211"/>
              <a:gd name="T7" fmla="*/ 230 h 405"/>
              <a:gd name="T8" fmla="*/ 170 w 211"/>
              <a:gd name="T9" fmla="*/ 122 h 405"/>
              <a:gd name="T10" fmla="*/ 208 w 211"/>
              <a:gd name="T11" fmla="*/ 75 h 405"/>
              <a:gd name="T12" fmla="*/ 210 w 211"/>
              <a:gd name="T13" fmla="*/ 50 h 405"/>
              <a:gd name="T14" fmla="*/ 165 w 211"/>
              <a:gd name="T15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11" h="405">
                <a:moveTo>
                  <a:pt x="0" y="365"/>
                </a:moveTo>
                <a:cubicBezTo>
                  <a:pt x="22" y="383"/>
                  <a:pt x="50" y="405"/>
                  <a:pt x="80" y="394"/>
                </a:cubicBezTo>
                <a:cubicBezTo>
                  <a:pt x="99" y="388"/>
                  <a:pt x="111" y="369"/>
                  <a:pt x="115" y="350"/>
                </a:cubicBezTo>
                <a:cubicBezTo>
                  <a:pt x="123" y="309"/>
                  <a:pt x="99" y="271"/>
                  <a:pt x="103" y="230"/>
                </a:cubicBezTo>
                <a:cubicBezTo>
                  <a:pt x="108" y="185"/>
                  <a:pt x="139" y="151"/>
                  <a:pt x="170" y="122"/>
                </a:cubicBezTo>
                <a:cubicBezTo>
                  <a:pt x="184" y="108"/>
                  <a:pt x="202" y="95"/>
                  <a:pt x="208" y="75"/>
                </a:cubicBezTo>
                <a:cubicBezTo>
                  <a:pt x="210" y="67"/>
                  <a:pt x="211" y="58"/>
                  <a:pt x="210" y="50"/>
                </a:cubicBezTo>
                <a:cubicBezTo>
                  <a:pt x="208" y="24"/>
                  <a:pt x="188" y="8"/>
                  <a:pt x="165" y="0"/>
                </a:cubicBezTo>
              </a:path>
            </a:pathLst>
          </a:custGeom>
          <a:noFill/>
          <a:ln w="12700" cap="flat">
            <a:solidFill>
              <a:srgbClr val="3C5C9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/>
          <a:lstStyle/>
          <a:p>
            <a:endParaRPr lang="zh-CN" altLang="en-US" sz="2400"/>
          </a:p>
        </p:txBody>
      </p:sp>
      <p:grpSp>
        <p:nvGrpSpPr>
          <p:cNvPr id="70" name="组合 69"/>
          <p:cNvGrpSpPr/>
          <p:nvPr userDrawn="1"/>
        </p:nvGrpSpPr>
        <p:grpSpPr>
          <a:xfrm>
            <a:off x="-175521" y="6345860"/>
            <a:ext cx="2524640" cy="611893"/>
            <a:chOff x="-131675" y="4530927"/>
            <a:chExt cx="2836863" cy="687388"/>
          </a:xfrm>
        </p:grpSpPr>
        <p:sp>
          <p:nvSpPr>
            <p:cNvPr id="45" name="Freeform 12"/>
            <p:cNvSpPr/>
            <p:nvPr userDrawn="1"/>
          </p:nvSpPr>
          <p:spPr bwMode="auto">
            <a:xfrm>
              <a:off x="-131675" y="4567440"/>
              <a:ext cx="2836863" cy="650875"/>
            </a:xfrm>
            <a:custGeom>
              <a:avLst/>
              <a:gdLst>
                <a:gd name="T0" fmla="*/ 751 w 752"/>
                <a:gd name="T1" fmla="*/ 170 h 172"/>
                <a:gd name="T2" fmla="*/ 729 w 752"/>
                <a:gd name="T3" fmla="*/ 99 h 172"/>
                <a:gd name="T4" fmla="*/ 689 w 752"/>
                <a:gd name="T5" fmla="*/ 44 h 172"/>
                <a:gd name="T6" fmla="*/ 562 w 752"/>
                <a:gd name="T7" fmla="*/ 26 h 172"/>
                <a:gd name="T8" fmla="*/ 489 w 752"/>
                <a:gd name="T9" fmla="*/ 67 h 172"/>
                <a:gd name="T10" fmla="*/ 400 w 752"/>
                <a:gd name="T11" fmla="*/ 49 h 172"/>
                <a:gd name="T12" fmla="*/ 153 w 752"/>
                <a:gd name="T13" fmla="*/ 26 h 172"/>
                <a:gd name="T14" fmla="*/ 0 w 752"/>
                <a:gd name="T15" fmla="*/ 170 h 172"/>
                <a:gd name="T16" fmla="*/ 751 w 752"/>
                <a:gd name="T17" fmla="*/ 17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2" h="172">
                  <a:moveTo>
                    <a:pt x="751" y="170"/>
                  </a:moveTo>
                  <a:cubicBezTo>
                    <a:pt x="752" y="169"/>
                    <a:pt x="732" y="104"/>
                    <a:pt x="729" y="99"/>
                  </a:cubicBezTo>
                  <a:cubicBezTo>
                    <a:pt x="719" y="78"/>
                    <a:pt x="706" y="59"/>
                    <a:pt x="689" y="44"/>
                  </a:cubicBezTo>
                  <a:cubicBezTo>
                    <a:pt x="654" y="14"/>
                    <a:pt x="603" y="6"/>
                    <a:pt x="562" y="26"/>
                  </a:cubicBezTo>
                  <a:cubicBezTo>
                    <a:pt x="537" y="38"/>
                    <a:pt x="516" y="60"/>
                    <a:pt x="489" y="67"/>
                  </a:cubicBezTo>
                  <a:cubicBezTo>
                    <a:pt x="458" y="75"/>
                    <a:pt x="428" y="61"/>
                    <a:pt x="400" y="49"/>
                  </a:cubicBezTo>
                  <a:cubicBezTo>
                    <a:pt x="323" y="17"/>
                    <a:pt x="235" y="0"/>
                    <a:pt x="153" y="26"/>
                  </a:cubicBezTo>
                  <a:cubicBezTo>
                    <a:pt x="85" y="48"/>
                    <a:pt x="28" y="105"/>
                    <a:pt x="0" y="170"/>
                  </a:cubicBezTo>
                  <a:cubicBezTo>
                    <a:pt x="250" y="168"/>
                    <a:pt x="501" y="172"/>
                    <a:pt x="751" y="170"/>
                  </a:cubicBezTo>
                  <a:close/>
                </a:path>
              </a:pathLst>
            </a:custGeom>
            <a:solidFill>
              <a:srgbClr val="F7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6" name="Freeform 13"/>
            <p:cNvSpPr/>
            <p:nvPr userDrawn="1"/>
          </p:nvSpPr>
          <p:spPr bwMode="auto">
            <a:xfrm>
              <a:off x="789075" y="4734127"/>
              <a:ext cx="49213" cy="49213"/>
            </a:xfrm>
            <a:custGeom>
              <a:avLst/>
              <a:gdLst>
                <a:gd name="T0" fmla="*/ 8 w 13"/>
                <a:gd name="T1" fmla="*/ 2 h 13"/>
                <a:gd name="T2" fmla="*/ 5 w 13"/>
                <a:gd name="T3" fmla="*/ 4 h 13"/>
                <a:gd name="T4" fmla="*/ 2 w 13"/>
                <a:gd name="T5" fmla="*/ 6 h 13"/>
                <a:gd name="T6" fmla="*/ 6 w 13"/>
                <a:gd name="T7" fmla="*/ 11 h 13"/>
                <a:gd name="T8" fmla="*/ 9 w 13"/>
                <a:gd name="T9" fmla="*/ 8 h 13"/>
                <a:gd name="T10" fmla="*/ 12 w 13"/>
                <a:gd name="T11" fmla="*/ 6 h 13"/>
                <a:gd name="T12" fmla="*/ 8 w 13"/>
                <a:gd name="T1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2"/>
                  </a:moveTo>
                  <a:cubicBezTo>
                    <a:pt x="7" y="2"/>
                    <a:pt x="6" y="3"/>
                    <a:pt x="5" y="4"/>
                  </a:cubicBezTo>
                  <a:cubicBezTo>
                    <a:pt x="4" y="4"/>
                    <a:pt x="3" y="5"/>
                    <a:pt x="2" y="6"/>
                  </a:cubicBezTo>
                  <a:cubicBezTo>
                    <a:pt x="0" y="9"/>
                    <a:pt x="3" y="13"/>
                    <a:pt x="6" y="11"/>
                  </a:cubicBezTo>
                  <a:cubicBezTo>
                    <a:pt x="7" y="10"/>
                    <a:pt x="8" y="9"/>
                    <a:pt x="9" y="8"/>
                  </a:cubicBezTo>
                  <a:cubicBezTo>
                    <a:pt x="10" y="7"/>
                    <a:pt x="11" y="7"/>
                    <a:pt x="12" y="6"/>
                  </a:cubicBezTo>
                  <a:cubicBezTo>
                    <a:pt x="13" y="3"/>
                    <a:pt x="11" y="0"/>
                    <a:pt x="8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7" name="Freeform 14"/>
            <p:cNvSpPr/>
            <p:nvPr userDrawn="1"/>
          </p:nvSpPr>
          <p:spPr bwMode="auto">
            <a:xfrm>
              <a:off x="674775" y="4723015"/>
              <a:ext cx="38100" cy="30163"/>
            </a:xfrm>
            <a:custGeom>
              <a:avLst/>
              <a:gdLst>
                <a:gd name="T0" fmla="*/ 6 w 10"/>
                <a:gd name="T1" fmla="*/ 0 h 8"/>
                <a:gd name="T2" fmla="*/ 2 w 10"/>
                <a:gd name="T3" fmla="*/ 1 h 8"/>
                <a:gd name="T4" fmla="*/ 1 w 10"/>
                <a:gd name="T5" fmla="*/ 5 h 8"/>
                <a:gd name="T6" fmla="*/ 5 w 10"/>
                <a:gd name="T7" fmla="*/ 7 h 8"/>
                <a:gd name="T8" fmla="*/ 9 w 10"/>
                <a:gd name="T9" fmla="*/ 4 h 8"/>
                <a:gd name="T10" fmla="*/ 9 w 10"/>
                <a:gd name="T11" fmla="*/ 1 h 8"/>
                <a:gd name="T12" fmla="*/ 6 w 1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7"/>
                    <a:pt x="3" y="8"/>
                    <a:pt x="5" y="7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4"/>
                    <a:pt x="10" y="2"/>
                    <a:pt x="9" y="1"/>
                  </a:cubicBezTo>
                  <a:cubicBezTo>
                    <a:pt x="9" y="0"/>
                    <a:pt x="8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8" name="Freeform 15"/>
            <p:cNvSpPr/>
            <p:nvPr userDrawn="1"/>
          </p:nvSpPr>
          <p:spPr bwMode="auto">
            <a:xfrm>
              <a:off x="690650" y="4775402"/>
              <a:ext cx="41275" cy="41275"/>
            </a:xfrm>
            <a:custGeom>
              <a:avLst/>
              <a:gdLst>
                <a:gd name="T0" fmla="*/ 6 w 11"/>
                <a:gd name="T1" fmla="*/ 2 h 11"/>
                <a:gd name="T2" fmla="*/ 4 w 11"/>
                <a:gd name="T3" fmla="*/ 4 h 11"/>
                <a:gd name="T4" fmla="*/ 1 w 11"/>
                <a:gd name="T5" fmla="*/ 6 h 11"/>
                <a:gd name="T6" fmla="*/ 1 w 11"/>
                <a:gd name="T7" fmla="*/ 10 h 11"/>
                <a:gd name="T8" fmla="*/ 5 w 11"/>
                <a:gd name="T9" fmla="*/ 10 h 11"/>
                <a:gd name="T10" fmla="*/ 9 w 11"/>
                <a:gd name="T11" fmla="*/ 6 h 11"/>
                <a:gd name="T12" fmla="*/ 6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6" y="2"/>
                  </a:moveTo>
                  <a:cubicBezTo>
                    <a:pt x="5" y="3"/>
                    <a:pt x="4" y="3"/>
                    <a:pt x="4" y="4"/>
                  </a:cubicBezTo>
                  <a:cubicBezTo>
                    <a:pt x="3" y="4"/>
                    <a:pt x="2" y="5"/>
                    <a:pt x="1" y="6"/>
                  </a:cubicBezTo>
                  <a:cubicBezTo>
                    <a:pt x="0" y="7"/>
                    <a:pt x="0" y="9"/>
                    <a:pt x="1" y="10"/>
                  </a:cubicBezTo>
                  <a:cubicBezTo>
                    <a:pt x="2" y="11"/>
                    <a:pt x="4" y="11"/>
                    <a:pt x="5" y="10"/>
                  </a:cubicBezTo>
                  <a:cubicBezTo>
                    <a:pt x="7" y="9"/>
                    <a:pt x="8" y="8"/>
                    <a:pt x="9" y="6"/>
                  </a:cubicBezTo>
                  <a:cubicBezTo>
                    <a:pt x="11" y="4"/>
                    <a:pt x="8" y="0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9" name="Freeform 16"/>
            <p:cNvSpPr/>
            <p:nvPr userDrawn="1"/>
          </p:nvSpPr>
          <p:spPr bwMode="auto">
            <a:xfrm>
              <a:off x="855750" y="4794452"/>
              <a:ext cx="34925" cy="30163"/>
            </a:xfrm>
            <a:custGeom>
              <a:avLst/>
              <a:gdLst>
                <a:gd name="T0" fmla="*/ 6 w 9"/>
                <a:gd name="T1" fmla="*/ 1 h 8"/>
                <a:gd name="T2" fmla="*/ 3 w 9"/>
                <a:gd name="T3" fmla="*/ 1 h 8"/>
                <a:gd name="T4" fmla="*/ 1 w 9"/>
                <a:gd name="T5" fmla="*/ 6 h 8"/>
                <a:gd name="T6" fmla="*/ 6 w 9"/>
                <a:gd name="T7" fmla="*/ 7 h 8"/>
                <a:gd name="T8" fmla="*/ 8 w 9"/>
                <a:gd name="T9" fmla="*/ 4 h 8"/>
                <a:gd name="T10" fmla="*/ 6 w 9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8">
                  <a:moveTo>
                    <a:pt x="6" y="1"/>
                  </a:moveTo>
                  <a:cubicBezTo>
                    <a:pt x="5" y="1"/>
                    <a:pt x="4" y="1"/>
                    <a:pt x="3" y="1"/>
                  </a:cubicBezTo>
                  <a:cubicBezTo>
                    <a:pt x="1" y="2"/>
                    <a:pt x="0" y="5"/>
                    <a:pt x="1" y="6"/>
                  </a:cubicBezTo>
                  <a:cubicBezTo>
                    <a:pt x="2" y="8"/>
                    <a:pt x="5" y="8"/>
                    <a:pt x="6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9" y="2"/>
                    <a:pt x="8" y="0"/>
                    <a:pt x="6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0" name="Freeform 17"/>
            <p:cNvSpPr/>
            <p:nvPr userDrawn="1"/>
          </p:nvSpPr>
          <p:spPr bwMode="auto">
            <a:xfrm>
              <a:off x="939888" y="4676977"/>
              <a:ext cx="36513" cy="26988"/>
            </a:xfrm>
            <a:custGeom>
              <a:avLst/>
              <a:gdLst>
                <a:gd name="T0" fmla="*/ 9 w 10"/>
                <a:gd name="T1" fmla="*/ 3 h 7"/>
                <a:gd name="T2" fmla="*/ 8 w 10"/>
                <a:gd name="T3" fmla="*/ 2 h 7"/>
                <a:gd name="T4" fmla="*/ 6 w 10"/>
                <a:gd name="T5" fmla="*/ 1 h 7"/>
                <a:gd name="T6" fmla="*/ 2 w 10"/>
                <a:gd name="T7" fmla="*/ 1 h 7"/>
                <a:gd name="T8" fmla="*/ 2 w 10"/>
                <a:gd name="T9" fmla="*/ 6 h 7"/>
                <a:gd name="T10" fmla="*/ 6 w 10"/>
                <a:gd name="T11" fmla="*/ 7 h 7"/>
                <a:gd name="T12" fmla="*/ 8 w 10"/>
                <a:gd name="T13" fmla="*/ 6 h 7"/>
                <a:gd name="T14" fmla="*/ 8 w 10"/>
                <a:gd name="T15" fmla="*/ 6 h 7"/>
                <a:gd name="T16" fmla="*/ 9 w 10"/>
                <a:gd name="T17" fmla="*/ 5 h 7"/>
                <a:gd name="T18" fmla="*/ 9 w 10"/>
                <a:gd name="T1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7">
                  <a:moveTo>
                    <a:pt x="9" y="3"/>
                  </a:moveTo>
                  <a:cubicBezTo>
                    <a:pt x="9" y="2"/>
                    <a:pt x="8" y="2"/>
                    <a:pt x="8" y="2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0" y="1"/>
                    <a:pt x="0" y="5"/>
                    <a:pt x="2" y="6"/>
                  </a:cubicBezTo>
                  <a:cubicBezTo>
                    <a:pt x="3" y="7"/>
                    <a:pt x="4" y="7"/>
                    <a:pt x="6" y="7"/>
                  </a:cubicBezTo>
                  <a:cubicBezTo>
                    <a:pt x="6" y="6"/>
                    <a:pt x="7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5"/>
                    <a:pt x="8" y="6"/>
                    <a:pt x="9" y="5"/>
                  </a:cubicBezTo>
                  <a:cubicBezTo>
                    <a:pt x="10" y="5"/>
                    <a:pt x="10" y="3"/>
                    <a:pt x="9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1" name="Freeform 18"/>
            <p:cNvSpPr/>
            <p:nvPr userDrawn="1"/>
          </p:nvSpPr>
          <p:spPr bwMode="auto">
            <a:xfrm>
              <a:off x="849400" y="4553152"/>
              <a:ext cx="41275" cy="30163"/>
            </a:xfrm>
            <a:custGeom>
              <a:avLst/>
              <a:gdLst>
                <a:gd name="T0" fmla="*/ 9 w 11"/>
                <a:gd name="T1" fmla="*/ 2 h 8"/>
                <a:gd name="T2" fmla="*/ 4 w 11"/>
                <a:gd name="T3" fmla="*/ 1 h 8"/>
                <a:gd name="T4" fmla="*/ 2 w 11"/>
                <a:gd name="T5" fmla="*/ 6 h 8"/>
                <a:gd name="T6" fmla="*/ 8 w 11"/>
                <a:gd name="T7" fmla="*/ 8 h 8"/>
                <a:gd name="T8" fmla="*/ 11 w 11"/>
                <a:gd name="T9" fmla="*/ 6 h 8"/>
                <a:gd name="T10" fmla="*/ 9 w 11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8">
                  <a:moveTo>
                    <a:pt x="9" y="2"/>
                  </a:moveTo>
                  <a:cubicBezTo>
                    <a:pt x="8" y="2"/>
                    <a:pt x="6" y="0"/>
                    <a:pt x="4" y="1"/>
                  </a:cubicBezTo>
                  <a:cubicBezTo>
                    <a:pt x="1" y="1"/>
                    <a:pt x="0" y="4"/>
                    <a:pt x="2" y="6"/>
                  </a:cubicBezTo>
                  <a:cubicBezTo>
                    <a:pt x="4" y="7"/>
                    <a:pt x="6" y="8"/>
                    <a:pt x="8" y="8"/>
                  </a:cubicBezTo>
                  <a:cubicBezTo>
                    <a:pt x="9" y="8"/>
                    <a:pt x="10" y="7"/>
                    <a:pt x="11" y="6"/>
                  </a:cubicBezTo>
                  <a:cubicBezTo>
                    <a:pt x="11" y="5"/>
                    <a:pt x="11" y="3"/>
                    <a:pt x="9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2" name="Freeform 19"/>
            <p:cNvSpPr/>
            <p:nvPr userDrawn="1"/>
          </p:nvSpPr>
          <p:spPr bwMode="auto">
            <a:xfrm>
              <a:off x="784313" y="4627765"/>
              <a:ext cx="34925" cy="34925"/>
            </a:xfrm>
            <a:custGeom>
              <a:avLst/>
              <a:gdLst>
                <a:gd name="T0" fmla="*/ 4 w 9"/>
                <a:gd name="T1" fmla="*/ 2 h 9"/>
                <a:gd name="T2" fmla="*/ 5 w 9"/>
                <a:gd name="T3" fmla="*/ 1 h 9"/>
                <a:gd name="T4" fmla="*/ 6 w 9"/>
                <a:gd name="T5" fmla="*/ 1 h 9"/>
                <a:gd name="T6" fmla="*/ 6 w 9"/>
                <a:gd name="T7" fmla="*/ 1 h 9"/>
                <a:gd name="T8" fmla="*/ 6 w 9"/>
                <a:gd name="T9" fmla="*/ 2 h 9"/>
                <a:gd name="T10" fmla="*/ 7 w 9"/>
                <a:gd name="T11" fmla="*/ 2 h 9"/>
                <a:gd name="T12" fmla="*/ 7 w 9"/>
                <a:gd name="T13" fmla="*/ 2 h 9"/>
                <a:gd name="T14" fmla="*/ 3 w 9"/>
                <a:gd name="T15" fmla="*/ 1 h 9"/>
                <a:gd name="T16" fmla="*/ 1 w 9"/>
                <a:gd name="T17" fmla="*/ 5 h 9"/>
                <a:gd name="T18" fmla="*/ 9 w 9"/>
                <a:gd name="T19" fmla="*/ 5 h 9"/>
                <a:gd name="T20" fmla="*/ 8 w 9"/>
                <a:gd name="T21" fmla="*/ 2 h 9"/>
                <a:gd name="T22" fmla="*/ 4 w 9"/>
                <a:gd name="T2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9">
                  <a:moveTo>
                    <a:pt x="4" y="2"/>
                  </a:moveTo>
                  <a:cubicBezTo>
                    <a:pt x="4" y="2"/>
                    <a:pt x="5" y="1"/>
                    <a:pt x="5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1"/>
                    <a:pt x="7" y="2"/>
                  </a:cubicBezTo>
                  <a:cubicBezTo>
                    <a:pt x="6" y="0"/>
                    <a:pt x="4" y="0"/>
                    <a:pt x="3" y="1"/>
                  </a:cubicBezTo>
                  <a:cubicBezTo>
                    <a:pt x="1" y="2"/>
                    <a:pt x="0" y="3"/>
                    <a:pt x="1" y="5"/>
                  </a:cubicBezTo>
                  <a:cubicBezTo>
                    <a:pt x="2" y="8"/>
                    <a:pt x="7" y="9"/>
                    <a:pt x="9" y="5"/>
                  </a:cubicBezTo>
                  <a:cubicBezTo>
                    <a:pt x="9" y="4"/>
                    <a:pt x="9" y="3"/>
                    <a:pt x="8" y="2"/>
                  </a:cubicBezTo>
                  <a:cubicBezTo>
                    <a:pt x="7" y="1"/>
                    <a:pt x="5" y="1"/>
                    <a:pt x="4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3" name="Freeform 20"/>
            <p:cNvSpPr/>
            <p:nvPr userDrawn="1"/>
          </p:nvSpPr>
          <p:spPr bwMode="auto">
            <a:xfrm>
              <a:off x="958938" y="4561090"/>
              <a:ext cx="36513" cy="33338"/>
            </a:xfrm>
            <a:custGeom>
              <a:avLst/>
              <a:gdLst>
                <a:gd name="T0" fmla="*/ 5 w 10"/>
                <a:gd name="T1" fmla="*/ 1 h 9"/>
                <a:gd name="T2" fmla="*/ 2 w 10"/>
                <a:gd name="T3" fmla="*/ 3 h 9"/>
                <a:gd name="T4" fmla="*/ 1 w 10"/>
                <a:gd name="T5" fmla="*/ 7 h 9"/>
                <a:gd name="T6" fmla="*/ 6 w 10"/>
                <a:gd name="T7" fmla="*/ 8 h 9"/>
                <a:gd name="T8" fmla="*/ 8 w 10"/>
                <a:gd name="T9" fmla="*/ 5 h 9"/>
                <a:gd name="T10" fmla="*/ 5 w 10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5" y="1"/>
                  </a:moveTo>
                  <a:cubicBezTo>
                    <a:pt x="4" y="1"/>
                    <a:pt x="3" y="2"/>
                    <a:pt x="2" y="3"/>
                  </a:cubicBezTo>
                  <a:cubicBezTo>
                    <a:pt x="1" y="3"/>
                    <a:pt x="0" y="6"/>
                    <a:pt x="1" y="7"/>
                  </a:cubicBezTo>
                  <a:cubicBezTo>
                    <a:pt x="2" y="8"/>
                    <a:pt x="4" y="9"/>
                    <a:pt x="6" y="8"/>
                  </a:cubicBezTo>
                  <a:cubicBezTo>
                    <a:pt x="7" y="7"/>
                    <a:pt x="8" y="6"/>
                    <a:pt x="8" y="5"/>
                  </a:cubicBezTo>
                  <a:cubicBezTo>
                    <a:pt x="10" y="3"/>
                    <a:pt x="8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4" name="Freeform 21"/>
            <p:cNvSpPr/>
            <p:nvPr userDrawn="1"/>
          </p:nvSpPr>
          <p:spPr bwMode="auto">
            <a:xfrm>
              <a:off x="1060538" y="4657927"/>
              <a:ext cx="36513" cy="38100"/>
            </a:xfrm>
            <a:custGeom>
              <a:avLst/>
              <a:gdLst>
                <a:gd name="T0" fmla="*/ 3 w 10"/>
                <a:gd name="T1" fmla="*/ 2 h 10"/>
                <a:gd name="T2" fmla="*/ 7 w 10"/>
                <a:gd name="T3" fmla="*/ 7 h 10"/>
                <a:gd name="T4" fmla="*/ 3 w 10"/>
                <a:gd name="T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0">
                  <a:moveTo>
                    <a:pt x="3" y="2"/>
                  </a:moveTo>
                  <a:cubicBezTo>
                    <a:pt x="0" y="4"/>
                    <a:pt x="3" y="10"/>
                    <a:pt x="7" y="7"/>
                  </a:cubicBezTo>
                  <a:cubicBezTo>
                    <a:pt x="10" y="5"/>
                    <a:pt x="7" y="0"/>
                    <a:pt x="3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5" name="Freeform 22"/>
            <p:cNvSpPr/>
            <p:nvPr userDrawn="1"/>
          </p:nvSpPr>
          <p:spPr bwMode="auto">
            <a:xfrm>
              <a:off x="976400" y="4775402"/>
              <a:ext cx="49213" cy="46038"/>
            </a:xfrm>
            <a:custGeom>
              <a:avLst/>
              <a:gdLst>
                <a:gd name="T0" fmla="*/ 4 w 13"/>
                <a:gd name="T1" fmla="*/ 3 h 12"/>
                <a:gd name="T2" fmla="*/ 8 w 13"/>
                <a:gd name="T3" fmla="*/ 9 h 12"/>
                <a:gd name="T4" fmla="*/ 4 w 13"/>
                <a:gd name="T5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2">
                  <a:moveTo>
                    <a:pt x="4" y="3"/>
                  </a:moveTo>
                  <a:cubicBezTo>
                    <a:pt x="0" y="6"/>
                    <a:pt x="4" y="12"/>
                    <a:pt x="8" y="9"/>
                  </a:cubicBezTo>
                  <a:cubicBezTo>
                    <a:pt x="13" y="6"/>
                    <a:pt x="8" y="0"/>
                    <a:pt x="4" y="3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6" name="Freeform 23"/>
            <p:cNvSpPr/>
            <p:nvPr userDrawn="1"/>
          </p:nvSpPr>
          <p:spPr bwMode="auto">
            <a:xfrm>
              <a:off x="709700" y="4896052"/>
              <a:ext cx="41275" cy="30163"/>
            </a:xfrm>
            <a:custGeom>
              <a:avLst/>
              <a:gdLst>
                <a:gd name="T0" fmla="*/ 6 w 11"/>
                <a:gd name="T1" fmla="*/ 0 h 8"/>
                <a:gd name="T2" fmla="*/ 1 w 11"/>
                <a:gd name="T3" fmla="*/ 4 h 8"/>
                <a:gd name="T4" fmla="*/ 3 w 11"/>
                <a:gd name="T5" fmla="*/ 7 h 8"/>
                <a:gd name="T6" fmla="*/ 9 w 11"/>
                <a:gd name="T7" fmla="*/ 5 h 8"/>
                <a:gd name="T8" fmla="*/ 6 w 11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8">
                  <a:moveTo>
                    <a:pt x="6" y="0"/>
                  </a:moveTo>
                  <a:cubicBezTo>
                    <a:pt x="4" y="1"/>
                    <a:pt x="2" y="2"/>
                    <a:pt x="1" y="4"/>
                  </a:cubicBezTo>
                  <a:cubicBezTo>
                    <a:pt x="0" y="5"/>
                    <a:pt x="1" y="8"/>
                    <a:pt x="3" y="7"/>
                  </a:cubicBezTo>
                  <a:cubicBezTo>
                    <a:pt x="5" y="7"/>
                    <a:pt x="7" y="6"/>
                    <a:pt x="9" y="5"/>
                  </a:cubicBezTo>
                  <a:cubicBezTo>
                    <a:pt x="11" y="3"/>
                    <a:pt x="9" y="0"/>
                    <a:pt x="6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7" name="Freeform 24"/>
            <p:cNvSpPr/>
            <p:nvPr userDrawn="1"/>
          </p:nvSpPr>
          <p:spPr bwMode="auto">
            <a:xfrm>
              <a:off x="547775" y="4791277"/>
              <a:ext cx="33338" cy="22225"/>
            </a:xfrm>
            <a:custGeom>
              <a:avLst/>
              <a:gdLst>
                <a:gd name="T0" fmla="*/ 7 w 9"/>
                <a:gd name="T1" fmla="*/ 1 h 6"/>
                <a:gd name="T2" fmla="*/ 2 w 9"/>
                <a:gd name="T3" fmla="*/ 1 h 6"/>
                <a:gd name="T4" fmla="*/ 2 w 9"/>
                <a:gd name="T5" fmla="*/ 5 h 6"/>
                <a:gd name="T6" fmla="*/ 5 w 9"/>
                <a:gd name="T7" fmla="*/ 6 h 6"/>
                <a:gd name="T8" fmla="*/ 7 w 9"/>
                <a:gd name="T9" fmla="*/ 6 h 6"/>
                <a:gd name="T10" fmla="*/ 9 w 9"/>
                <a:gd name="T11" fmla="*/ 3 h 6"/>
                <a:gd name="T12" fmla="*/ 7 w 9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7" y="1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2" y="5"/>
                  </a:cubicBezTo>
                  <a:cubicBezTo>
                    <a:pt x="3" y="6"/>
                    <a:pt x="3" y="6"/>
                    <a:pt x="5" y="6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5"/>
                    <a:pt x="9" y="4"/>
                    <a:pt x="9" y="3"/>
                  </a:cubicBezTo>
                  <a:cubicBezTo>
                    <a:pt x="9" y="2"/>
                    <a:pt x="8" y="1"/>
                    <a:pt x="7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8" name="Freeform 25"/>
            <p:cNvSpPr/>
            <p:nvPr userDrawn="1"/>
          </p:nvSpPr>
          <p:spPr bwMode="auto">
            <a:xfrm>
              <a:off x="550950" y="4676977"/>
              <a:ext cx="33338" cy="30163"/>
            </a:xfrm>
            <a:custGeom>
              <a:avLst/>
              <a:gdLst>
                <a:gd name="T0" fmla="*/ 5 w 9"/>
                <a:gd name="T1" fmla="*/ 1 h 8"/>
                <a:gd name="T2" fmla="*/ 5 w 9"/>
                <a:gd name="T3" fmla="*/ 1 h 8"/>
                <a:gd name="T4" fmla="*/ 4 w 9"/>
                <a:gd name="T5" fmla="*/ 2 h 8"/>
                <a:gd name="T6" fmla="*/ 4 w 9"/>
                <a:gd name="T7" fmla="*/ 2 h 8"/>
                <a:gd name="T8" fmla="*/ 4 w 9"/>
                <a:gd name="T9" fmla="*/ 2 h 8"/>
                <a:gd name="T10" fmla="*/ 4 w 9"/>
                <a:gd name="T11" fmla="*/ 2 h 8"/>
                <a:gd name="T12" fmla="*/ 4 w 9"/>
                <a:gd name="T13" fmla="*/ 2 h 8"/>
                <a:gd name="T14" fmla="*/ 4 w 9"/>
                <a:gd name="T15" fmla="*/ 2 h 8"/>
                <a:gd name="T16" fmla="*/ 3 w 9"/>
                <a:gd name="T17" fmla="*/ 1 h 8"/>
                <a:gd name="T18" fmla="*/ 3 w 9"/>
                <a:gd name="T19" fmla="*/ 1 h 8"/>
                <a:gd name="T20" fmla="*/ 2 w 9"/>
                <a:gd name="T21" fmla="*/ 2 h 8"/>
                <a:gd name="T22" fmla="*/ 0 w 9"/>
                <a:gd name="T23" fmla="*/ 4 h 8"/>
                <a:gd name="T24" fmla="*/ 0 w 9"/>
                <a:gd name="T25" fmla="*/ 6 h 8"/>
                <a:gd name="T26" fmla="*/ 5 w 9"/>
                <a:gd name="T27" fmla="*/ 8 h 8"/>
                <a:gd name="T28" fmla="*/ 8 w 9"/>
                <a:gd name="T29" fmla="*/ 4 h 8"/>
                <a:gd name="T30" fmla="*/ 5 w 9"/>
                <a:gd name="T3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8"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4" y="2"/>
                    <a:pt x="4" y="1"/>
                    <a:pt x="3" y="1"/>
                  </a:cubicBezTo>
                  <a:cubicBezTo>
                    <a:pt x="3" y="1"/>
                    <a:pt x="4" y="2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1" y="8"/>
                    <a:pt x="4" y="8"/>
                    <a:pt x="5" y="8"/>
                  </a:cubicBezTo>
                  <a:cubicBezTo>
                    <a:pt x="7" y="7"/>
                    <a:pt x="8" y="6"/>
                    <a:pt x="8" y="4"/>
                  </a:cubicBezTo>
                  <a:cubicBezTo>
                    <a:pt x="9" y="2"/>
                    <a:pt x="7" y="0"/>
                    <a:pt x="5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9" name="Freeform 26"/>
            <p:cNvSpPr/>
            <p:nvPr userDrawn="1"/>
          </p:nvSpPr>
          <p:spPr bwMode="auto">
            <a:xfrm>
              <a:off x="712875" y="4610302"/>
              <a:ext cx="26988" cy="25400"/>
            </a:xfrm>
            <a:custGeom>
              <a:avLst/>
              <a:gdLst>
                <a:gd name="T0" fmla="*/ 1 w 7"/>
                <a:gd name="T1" fmla="*/ 1 h 7"/>
                <a:gd name="T2" fmla="*/ 0 w 7"/>
                <a:gd name="T3" fmla="*/ 3 h 7"/>
                <a:gd name="T4" fmla="*/ 2 w 7"/>
                <a:gd name="T5" fmla="*/ 6 h 7"/>
                <a:gd name="T6" fmla="*/ 4 w 7"/>
                <a:gd name="T7" fmla="*/ 6 h 7"/>
                <a:gd name="T8" fmla="*/ 6 w 7"/>
                <a:gd name="T9" fmla="*/ 1 h 7"/>
                <a:gd name="T10" fmla="*/ 1 w 7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0" y="5"/>
                    <a:pt x="0" y="6"/>
                    <a:pt x="2" y="6"/>
                  </a:cubicBezTo>
                  <a:cubicBezTo>
                    <a:pt x="3" y="7"/>
                    <a:pt x="3" y="6"/>
                    <a:pt x="4" y="6"/>
                  </a:cubicBezTo>
                  <a:cubicBezTo>
                    <a:pt x="6" y="5"/>
                    <a:pt x="7" y="3"/>
                    <a:pt x="6" y="1"/>
                  </a:cubicBezTo>
                  <a:cubicBezTo>
                    <a:pt x="5" y="0"/>
                    <a:pt x="2" y="0"/>
                    <a:pt x="1" y="1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0" name="Freeform 27"/>
            <p:cNvSpPr/>
            <p:nvPr userDrawn="1"/>
          </p:nvSpPr>
          <p:spPr bwMode="auto">
            <a:xfrm>
              <a:off x="350925" y="4780165"/>
              <a:ext cx="44450" cy="30163"/>
            </a:xfrm>
            <a:custGeom>
              <a:avLst/>
              <a:gdLst>
                <a:gd name="T0" fmla="*/ 9 w 12"/>
                <a:gd name="T1" fmla="*/ 0 h 8"/>
                <a:gd name="T2" fmla="*/ 5 w 12"/>
                <a:gd name="T3" fmla="*/ 1 h 8"/>
                <a:gd name="T4" fmla="*/ 1 w 12"/>
                <a:gd name="T5" fmla="*/ 4 h 8"/>
                <a:gd name="T6" fmla="*/ 3 w 12"/>
                <a:gd name="T7" fmla="*/ 7 h 8"/>
                <a:gd name="T8" fmla="*/ 7 w 12"/>
                <a:gd name="T9" fmla="*/ 7 h 8"/>
                <a:gd name="T10" fmla="*/ 10 w 12"/>
                <a:gd name="T11" fmla="*/ 6 h 8"/>
                <a:gd name="T12" fmla="*/ 12 w 12"/>
                <a:gd name="T13" fmla="*/ 3 h 8"/>
                <a:gd name="T14" fmla="*/ 9 w 12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9" y="0"/>
                  </a:moveTo>
                  <a:cubicBezTo>
                    <a:pt x="8" y="0"/>
                    <a:pt x="6" y="1"/>
                    <a:pt x="5" y="1"/>
                  </a:cubicBezTo>
                  <a:cubicBezTo>
                    <a:pt x="3" y="1"/>
                    <a:pt x="2" y="2"/>
                    <a:pt x="1" y="4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7"/>
                    <a:pt x="9" y="6"/>
                    <a:pt x="10" y="6"/>
                  </a:cubicBezTo>
                  <a:cubicBezTo>
                    <a:pt x="11" y="5"/>
                    <a:pt x="12" y="4"/>
                    <a:pt x="12" y="3"/>
                  </a:cubicBezTo>
                  <a:cubicBezTo>
                    <a:pt x="11" y="2"/>
                    <a:pt x="10" y="0"/>
                    <a:pt x="9" y="0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1" name="Freeform 28"/>
            <p:cNvSpPr/>
            <p:nvPr userDrawn="1"/>
          </p:nvSpPr>
          <p:spPr bwMode="auto">
            <a:xfrm>
              <a:off x="562063" y="4851602"/>
              <a:ext cx="30163" cy="33338"/>
            </a:xfrm>
            <a:custGeom>
              <a:avLst/>
              <a:gdLst>
                <a:gd name="T0" fmla="*/ 6 w 8"/>
                <a:gd name="T1" fmla="*/ 2 h 9"/>
                <a:gd name="T2" fmla="*/ 6 w 8"/>
                <a:gd name="T3" fmla="*/ 2 h 9"/>
                <a:gd name="T4" fmla="*/ 2 w 8"/>
                <a:gd name="T5" fmla="*/ 6 h 9"/>
                <a:gd name="T6" fmla="*/ 8 w 8"/>
                <a:gd name="T7" fmla="*/ 4 h 9"/>
                <a:gd name="T8" fmla="*/ 8 w 8"/>
                <a:gd name="T9" fmla="*/ 4 h 9"/>
                <a:gd name="T10" fmla="*/ 6 w 8"/>
                <a:gd name="T11" fmla="*/ 2 h 9"/>
                <a:gd name="T12" fmla="*/ 6 w 8"/>
                <a:gd name="T13" fmla="*/ 2 h 9"/>
                <a:gd name="T14" fmla="*/ 2 w 8"/>
                <a:gd name="T15" fmla="*/ 6 h 9"/>
                <a:gd name="T16" fmla="*/ 8 w 8"/>
                <a:gd name="T17" fmla="*/ 4 h 9"/>
                <a:gd name="T18" fmla="*/ 6 w 8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9">
                  <a:moveTo>
                    <a:pt x="6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0" y="4"/>
                    <a:pt x="2" y="6"/>
                  </a:cubicBezTo>
                  <a:cubicBezTo>
                    <a:pt x="4" y="9"/>
                    <a:pt x="8" y="7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1"/>
                    <a:pt x="0" y="4"/>
                    <a:pt x="2" y="6"/>
                  </a:cubicBezTo>
                  <a:cubicBezTo>
                    <a:pt x="4" y="9"/>
                    <a:pt x="8" y="8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2" name="Freeform 29"/>
            <p:cNvSpPr/>
            <p:nvPr userDrawn="1"/>
          </p:nvSpPr>
          <p:spPr bwMode="auto">
            <a:xfrm>
              <a:off x="1230400" y="4542040"/>
              <a:ext cx="44450" cy="30163"/>
            </a:xfrm>
            <a:custGeom>
              <a:avLst/>
              <a:gdLst>
                <a:gd name="T0" fmla="*/ 3 w 12"/>
                <a:gd name="T1" fmla="*/ 8 h 8"/>
                <a:gd name="T2" fmla="*/ 10 w 12"/>
                <a:gd name="T3" fmla="*/ 6 h 8"/>
                <a:gd name="T4" fmla="*/ 9 w 12"/>
                <a:gd name="T5" fmla="*/ 1 h 8"/>
                <a:gd name="T6" fmla="*/ 2 w 12"/>
                <a:gd name="T7" fmla="*/ 2 h 8"/>
                <a:gd name="T8" fmla="*/ 3 w 12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8">
                  <a:moveTo>
                    <a:pt x="3" y="8"/>
                  </a:moveTo>
                  <a:cubicBezTo>
                    <a:pt x="6" y="8"/>
                    <a:pt x="9" y="8"/>
                    <a:pt x="10" y="6"/>
                  </a:cubicBezTo>
                  <a:cubicBezTo>
                    <a:pt x="12" y="4"/>
                    <a:pt x="11" y="2"/>
                    <a:pt x="9" y="1"/>
                  </a:cubicBezTo>
                  <a:cubicBezTo>
                    <a:pt x="7" y="0"/>
                    <a:pt x="4" y="1"/>
                    <a:pt x="2" y="2"/>
                  </a:cubicBezTo>
                  <a:cubicBezTo>
                    <a:pt x="0" y="4"/>
                    <a:pt x="1" y="7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3" name="Freeform 30"/>
            <p:cNvSpPr/>
            <p:nvPr userDrawn="1"/>
          </p:nvSpPr>
          <p:spPr bwMode="auto">
            <a:xfrm>
              <a:off x="1082763" y="4530927"/>
              <a:ext cx="41275" cy="33338"/>
            </a:xfrm>
            <a:custGeom>
              <a:avLst/>
              <a:gdLst>
                <a:gd name="T0" fmla="*/ 3 w 11"/>
                <a:gd name="T1" fmla="*/ 8 h 9"/>
                <a:gd name="T2" fmla="*/ 9 w 11"/>
                <a:gd name="T3" fmla="*/ 6 h 9"/>
                <a:gd name="T4" fmla="*/ 10 w 11"/>
                <a:gd name="T5" fmla="*/ 2 h 9"/>
                <a:gd name="T6" fmla="*/ 5 w 11"/>
                <a:gd name="T7" fmla="*/ 1 h 9"/>
                <a:gd name="T8" fmla="*/ 1 w 11"/>
                <a:gd name="T9" fmla="*/ 5 h 9"/>
                <a:gd name="T10" fmla="*/ 3 w 11"/>
                <a:gd name="T11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3" y="8"/>
                  </a:moveTo>
                  <a:cubicBezTo>
                    <a:pt x="5" y="7"/>
                    <a:pt x="7" y="7"/>
                    <a:pt x="9" y="6"/>
                  </a:cubicBezTo>
                  <a:cubicBezTo>
                    <a:pt x="10" y="5"/>
                    <a:pt x="11" y="3"/>
                    <a:pt x="10" y="2"/>
                  </a:cubicBezTo>
                  <a:cubicBezTo>
                    <a:pt x="9" y="0"/>
                    <a:pt x="7" y="0"/>
                    <a:pt x="5" y="1"/>
                  </a:cubicBezTo>
                  <a:cubicBezTo>
                    <a:pt x="4" y="2"/>
                    <a:pt x="2" y="4"/>
                    <a:pt x="1" y="5"/>
                  </a:cubicBezTo>
                  <a:cubicBezTo>
                    <a:pt x="0" y="6"/>
                    <a:pt x="2" y="9"/>
                    <a:pt x="3" y="8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4" name="Freeform 31"/>
            <p:cNvSpPr/>
            <p:nvPr userDrawn="1"/>
          </p:nvSpPr>
          <p:spPr bwMode="auto">
            <a:xfrm>
              <a:off x="1189125" y="4700790"/>
              <a:ext cx="30163" cy="22225"/>
            </a:xfrm>
            <a:custGeom>
              <a:avLst/>
              <a:gdLst>
                <a:gd name="T0" fmla="*/ 0 w 8"/>
                <a:gd name="T1" fmla="*/ 2 h 6"/>
                <a:gd name="T2" fmla="*/ 3 w 8"/>
                <a:gd name="T3" fmla="*/ 5 h 6"/>
                <a:gd name="T4" fmla="*/ 7 w 8"/>
                <a:gd name="T5" fmla="*/ 5 h 6"/>
                <a:gd name="T6" fmla="*/ 8 w 8"/>
                <a:gd name="T7" fmla="*/ 4 h 6"/>
                <a:gd name="T8" fmla="*/ 6 w 8"/>
                <a:gd name="T9" fmla="*/ 0 h 6"/>
                <a:gd name="T10" fmla="*/ 1 w 8"/>
                <a:gd name="T11" fmla="*/ 0 h 6"/>
                <a:gd name="T12" fmla="*/ 0 w 8"/>
                <a:gd name="T13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6" y="6"/>
                    <a:pt x="7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2"/>
                    <a:pt x="7" y="0"/>
                    <a:pt x="6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5" name="Freeform 32"/>
            <p:cNvSpPr/>
            <p:nvPr userDrawn="1"/>
          </p:nvSpPr>
          <p:spPr bwMode="auto">
            <a:xfrm>
              <a:off x="1085938" y="4786515"/>
              <a:ext cx="34925" cy="26988"/>
            </a:xfrm>
            <a:custGeom>
              <a:avLst/>
              <a:gdLst>
                <a:gd name="T0" fmla="*/ 1 w 9"/>
                <a:gd name="T1" fmla="*/ 4 h 7"/>
                <a:gd name="T2" fmla="*/ 2 w 9"/>
                <a:gd name="T3" fmla="*/ 5 h 7"/>
                <a:gd name="T4" fmla="*/ 4 w 9"/>
                <a:gd name="T5" fmla="*/ 6 h 7"/>
                <a:gd name="T6" fmla="*/ 9 w 9"/>
                <a:gd name="T7" fmla="*/ 4 h 7"/>
                <a:gd name="T8" fmla="*/ 5 w 9"/>
                <a:gd name="T9" fmla="*/ 0 h 7"/>
                <a:gd name="T10" fmla="*/ 3 w 9"/>
                <a:gd name="T11" fmla="*/ 1 h 7"/>
                <a:gd name="T12" fmla="*/ 2 w 9"/>
                <a:gd name="T13" fmla="*/ 1 h 7"/>
                <a:gd name="T14" fmla="*/ 1 w 9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1" y="4"/>
                  </a:moveTo>
                  <a:cubicBezTo>
                    <a:pt x="2" y="4"/>
                    <a:pt x="2" y="5"/>
                    <a:pt x="2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7"/>
                    <a:pt x="8" y="6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5" y="0"/>
                    <a:pt x="4" y="0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0" y="1"/>
                    <a:pt x="0" y="3"/>
                    <a:pt x="1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6" name="Freeform 33"/>
            <p:cNvSpPr/>
            <p:nvPr userDrawn="1"/>
          </p:nvSpPr>
          <p:spPr bwMode="auto">
            <a:xfrm>
              <a:off x="912900" y="4873827"/>
              <a:ext cx="41275" cy="26988"/>
            </a:xfrm>
            <a:custGeom>
              <a:avLst/>
              <a:gdLst>
                <a:gd name="T0" fmla="*/ 2 w 11"/>
                <a:gd name="T1" fmla="*/ 5 h 7"/>
                <a:gd name="T2" fmla="*/ 5 w 11"/>
                <a:gd name="T3" fmla="*/ 6 h 7"/>
                <a:gd name="T4" fmla="*/ 10 w 11"/>
                <a:gd name="T5" fmla="*/ 5 h 7"/>
                <a:gd name="T6" fmla="*/ 10 w 11"/>
                <a:gd name="T7" fmla="*/ 2 h 7"/>
                <a:gd name="T8" fmla="*/ 8 w 11"/>
                <a:gd name="T9" fmla="*/ 0 h 7"/>
                <a:gd name="T10" fmla="*/ 5 w 11"/>
                <a:gd name="T11" fmla="*/ 1 h 7"/>
                <a:gd name="T12" fmla="*/ 2 w 11"/>
                <a:gd name="T13" fmla="*/ 2 h 7"/>
                <a:gd name="T14" fmla="*/ 2 w 1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7">
                  <a:moveTo>
                    <a:pt x="2" y="5"/>
                  </a:moveTo>
                  <a:cubicBezTo>
                    <a:pt x="3" y="5"/>
                    <a:pt x="4" y="6"/>
                    <a:pt x="5" y="6"/>
                  </a:cubicBezTo>
                  <a:cubicBezTo>
                    <a:pt x="7" y="7"/>
                    <a:pt x="9" y="7"/>
                    <a:pt x="10" y="5"/>
                  </a:cubicBezTo>
                  <a:cubicBezTo>
                    <a:pt x="11" y="5"/>
                    <a:pt x="11" y="3"/>
                    <a:pt x="10" y="2"/>
                  </a:cubicBezTo>
                  <a:cubicBezTo>
                    <a:pt x="10" y="1"/>
                    <a:pt x="9" y="1"/>
                    <a:pt x="8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4" y="1"/>
                    <a:pt x="3" y="2"/>
                    <a:pt x="2" y="2"/>
                  </a:cubicBezTo>
                  <a:cubicBezTo>
                    <a:pt x="1" y="2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7" name="Freeform 34"/>
            <p:cNvSpPr/>
            <p:nvPr userDrawn="1"/>
          </p:nvSpPr>
          <p:spPr bwMode="auto">
            <a:xfrm>
              <a:off x="1019263" y="4865890"/>
              <a:ext cx="30163" cy="30163"/>
            </a:xfrm>
            <a:custGeom>
              <a:avLst/>
              <a:gdLst>
                <a:gd name="T0" fmla="*/ 2 w 8"/>
                <a:gd name="T1" fmla="*/ 7 h 8"/>
                <a:gd name="T2" fmla="*/ 4 w 8"/>
                <a:gd name="T3" fmla="*/ 8 h 8"/>
                <a:gd name="T4" fmla="*/ 8 w 8"/>
                <a:gd name="T5" fmla="*/ 6 h 8"/>
                <a:gd name="T6" fmla="*/ 7 w 8"/>
                <a:gd name="T7" fmla="*/ 2 h 8"/>
                <a:gd name="T8" fmla="*/ 5 w 8"/>
                <a:gd name="T9" fmla="*/ 1 h 8"/>
                <a:gd name="T10" fmla="*/ 1 w 8"/>
                <a:gd name="T11" fmla="*/ 2 h 8"/>
                <a:gd name="T12" fmla="*/ 2 w 8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2" y="7"/>
                  </a:moveTo>
                  <a:cubicBezTo>
                    <a:pt x="2" y="7"/>
                    <a:pt x="3" y="8"/>
                    <a:pt x="4" y="8"/>
                  </a:cubicBezTo>
                  <a:cubicBezTo>
                    <a:pt x="5" y="8"/>
                    <a:pt x="7" y="7"/>
                    <a:pt x="8" y="6"/>
                  </a:cubicBezTo>
                  <a:cubicBezTo>
                    <a:pt x="8" y="5"/>
                    <a:pt x="8" y="3"/>
                    <a:pt x="7" y="2"/>
                  </a:cubicBezTo>
                  <a:cubicBezTo>
                    <a:pt x="6" y="2"/>
                    <a:pt x="6" y="1"/>
                    <a:pt x="5" y="1"/>
                  </a:cubicBezTo>
                  <a:cubicBezTo>
                    <a:pt x="4" y="0"/>
                    <a:pt x="2" y="1"/>
                    <a:pt x="1" y="2"/>
                  </a:cubicBezTo>
                  <a:cubicBezTo>
                    <a:pt x="0" y="4"/>
                    <a:pt x="0" y="6"/>
                    <a:pt x="2" y="7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8" name="Freeform 35"/>
            <p:cNvSpPr/>
            <p:nvPr userDrawn="1"/>
          </p:nvSpPr>
          <p:spPr bwMode="auto">
            <a:xfrm>
              <a:off x="487450" y="4750002"/>
              <a:ext cx="36513" cy="36513"/>
            </a:xfrm>
            <a:custGeom>
              <a:avLst/>
              <a:gdLst>
                <a:gd name="T0" fmla="*/ 2 w 10"/>
                <a:gd name="T1" fmla="*/ 4 h 10"/>
                <a:gd name="T2" fmla="*/ 2 w 10"/>
                <a:gd name="T3" fmla="*/ 5 h 10"/>
                <a:gd name="T4" fmla="*/ 5 w 10"/>
                <a:gd name="T5" fmla="*/ 9 h 10"/>
                <a:gd name="T6" fmla="*/ 5 w 10"/>
                <a:gd name="T7" fmla="*/ 9 h 10"/>
                <a:gd name="T8" fmla="*/ 2 w 10"/>
                <a:gd name="T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2" y="4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0" y="7"/>
                    <a:pt x="2" y="10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0" y="8"/>
                    <a:pt x="5" y="0"/>
                    <a:pt x="2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9" name="Freeform 36"/>
            <p:cNvSpPr/>
            <p:nvPr userDrawn="1"/>
          </p:nvSpPr>
          <p:spPr bwMode="auto">
            <a:xfrm>
              <a:off x="608100" y="4624590"/>
              <a:ext cx="30163" cy="30163"/>
            </a:xfrm>
            <a:custGeom>
              <a:avLst/>
              <a:gdLst>
                <a:gd name="T0" fmla="*/ 7 w 8"/>
                <a:gd name="T1" fmla="*/ 4 h 8"/>
                <a:gd name="T2" fmla="*/ 3 w 8"/>
                <a:gd name="T3" fmla="*/ 1 h 8"/>
                <a:gd name="T4" fmla="*/ 1 w 8"/>
                <a:gd name="T5" fmla="*/ 1 h 8"/>
                <a:gd name="T6" fmla="*/ 0 w 8"/>
                <a:gd name="T7" fmla="*/ 3 h 8"/>
                <a:gd name="T8" fmla="*/ 2 w 8"/>
                <a:gd name="T9" fmla="*/ 6 h 8"/>
                <a:gd name="T10" fmla="*/ 3 w 8"/>
                <a:gd name="T11" fmla="*/ 7 h 8"/>
                <a:gd name="T12" fmla="*/ 7 w 8"/>
                <a:gd name="T13" fmla="*/ 7 h 8"/>
                <a:gd name="T14" fmla="*/ 7 w 8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7" y="4"/>
                  </a:moveTo>
                  <a:cubicBezTo>
                    <a:pt x="6" y="2"/>
                    <a:pt x="5" y="1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4" y="8"/>
                    <a:pt x="6" y="8"/>
                    <a:pt x="7" y="7"/>
                  </a:cubicBezTo>
                  <a:cubicBezTo>
                    <a:pt x="8" y="6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3C5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8" tIns="60944" rIns="121888" bIns="60944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3"/>
            </p:custDataLst>
          </p:nvPr>
        </p:nvSpPr>
        <p:spPr>
          <a:xfrm>
            <a:off x="0" y="893"/>
            <a:ext cx="12188825" cy="68562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14"/>
            </p:custDataLst>
          </p:nvPr>
        </p:nvSpPr>
        <p:spPr>
          <a:xfrm>
            <a:off x="142469" y="893"/>
            <a:ext cx="3076614" cy="4080203"/>
          </a:xfrm>
          <a:custGeom>
            <a:avLst/>
            <a:gdLst>
              <a:gd name="connsiteX0" fmla="*/ 1870372 w 3077415"/>
              <a:gd name="connsiteY0" fmla="*/ 0 h 4081266"/>
              <a:gd name="connsiteX1" fmla="*/ 3077415 w 3077415"/>
              <a:gd name="connsiteY1" fmla="*/ 3505507 h 4081266"/>
              <a:gd name="connsiteX2" fmla="*/ 1405289 w 3077415"/>
              <a:gd name="connsiteY2" fmla="*/ 4081266 h 4081266"/>
              <a:gd name="connsiteX3" fmla="*/ 0 w 3077415"/>
              <a:gd name="connsiteY3" fmla="*/ 13 h 4081266"/>
              <a:gd name="connsiteX4" fmla="*/ 1870372 w 3077415"/>
              <a:gd name="connsiteY4" fmla="*/ 0 h 408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415" h="4081266">
                <a:moveTo>
                  <a:pt x="1870372" y="0"/>
                </a:moveTo>
                <a:lnTo>
                  <a:pt x="3077415" y="3505507"/>
                </a:lnTo>
                <a:lnTo>
                  <a:pt x="1405289" y="4081266"/>
                </a:lnTo>
                <a:lnTo>
                  <a:pt x="0" y="13"/>
                </a:lnTo>
                <a:lnTo>
                  <a:pt x="1870372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9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12000">
                  <a:schemeClr val="accent1">
                    <a:alpha val="17000"/>
                  </a:schemeClr>
                </a:gs>
                <a:gs pos="5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5"/>
            </p:custDataLst>
          </p:nvPr>
        </p:nvSpPr>
        <p:spPr>
          <a:xfrm>
            <a:off x="2261817" y="893"/>
            <a:ext cx="7008746" cy="6855631"/>
          </a:xfrm>
          <a:custGeom>
            <a:avLst/>
            <a:gdLst>
              <a:gd name="connsiteX0" fmla="*/ 0 w 7010572"/>
              <a:gd name="connsiteY0" fmla="*/ 0 h 6857417"/>
              <a:gd name="connsiteX1" fmla="*/ 4832696 w 7010572"/>
              <a:gd name="connsiteY1" fmla="*/ 118 h 6857417"/>
              <a:gd name="connsiteX2" fmla="*/ 7010572 w 7010572"/>
              <a:gd name="connsiteY2" fmla="*/ 6702934 h 6857417"/>
              <a:gd name="connsiteX3" fmla="*/ 6535286 w 7010572"/>
              <a:gd name="connsiteY3" fmla="*/ 6857363 h 6857417"/>
              <a:gd name="connsiteX4" fmla="*/ 2228110 w 7010572"/>
              <a:gd name="connsiteY4" fmla="*/ 6857417 h 6857417"/>
              <a:gd name="connsiteX5" fmla="*/ 0 w 7010572"/>
              <a:gd name="connsiteY5" fmla="*/ 0 h 685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572" h="6857417">
                <a:moveTo>
                  <a:pt x="0" y="0"/>
                </a:moveTo>
                <a:lnTo>
                  <a:pt x="4832696" y="118"/>
                </a:lnTo>
                <a:lnTo>
                  <a:pt x="7010572" y="6702934"/>
                </a:lnTo>
                <a:lnTo>
                  <a:pt x="6535286" y="6857363"/>
                </a:lnTo>
                <a:lnTo>
                  <a:pt x="2228110" y="685741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1000"/>
                </a:schemeClr>
              </a:gs>
              <a:gs pos="58000">
                <a:schemeClr val="accent1">
                  <a:alpha val="0"/>
                </a:schemeClr>
              </a:gs>
            </a:gsLst>
            <a:lin ang="5400000" scaled="0"/>
          </a:gradFill>
          <a:ln w="22225">
            <a:gradFill>
              <a:gsLst>
                <a:gs pos="0">
                  <a:schemeClr val="accent1">
                    <a:alpha val="0"/>
                  </a:schemeClr>
                </a:gs>
                <a:gs pos="25000">
                  <a:schemeClr val="accent1">
                    <a:alpha val="7000"/>
                  </a:schemeClr>
                </a:gs>
                <a:gs pos="60000">
                  <a:schemeClr val="accent1">
                    <a:alpha val="0"/>
                  </a:schemeClr>
                </a:gs>
              </a:gsLst>
              <a:lin ang="534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zh-CN" altLang="en-US" sz="1600">
              <a:ea typeface="思源宋体 CN" panose="020204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779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7548" y="6355588"/>
            <a:ext cx="4113728" cy="36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703" y="6355588"/>
            <a:ext cx="2742486" cy="365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779" y="360799"/>
            <a:ext cx="10797188" cy="71981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779" y="1302303"/>
            <a:ext cx="10797188" cy="487235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4440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2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01.xml"/><Relationship Id="rId14" Type="http://schemas.openxmlformats.org/officeDocument/2006/relationships/image" Target="../media/image4.png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tags" Target="../tags/tag1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18.xml"/><Relationship Id="rId14" Type="http://schemas.openxmlformats.org/officeDocument/2006/relationships/image" Target="../media/image5.png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0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49.xml"/><Relationship Id="rId7" Type="http://schemas.openxmlformats.org/officeDocument/2006/relationships/image" Target="../media/image6.jpeg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tags" Target="../tags/tag25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275.xml"/><Relationship Id="rId10" Type="http://schemas.openxmlformats.org/officeDocument/2006/relationships/image" Target="../media/image7.png"/><Relationship Id="rId1" Type="http://schemas.openxmlformats.org/officeDocument/2006/relationships/tags" Target="../tags/tag26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289.xml"/><Relationship Id="rId14" Type="http://schemas.openxmlformats.org/officeDocument/2006/relationships/image" Target="../media/image8.png"/><Relationship Id="rId13" Type="http://schemas.openxmlformats.org/officeDocument/2006/relationships/tags" Target="../tags/tag288.xml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tags" Target="../tags/tag27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4" Type="http://schemas.openxmlformats.org/officeDocument/2006/relationships/slideLayout" Target="../slideLayouts/slideLayout8.xml"/><Relationship Id="rId23" Type="http://schemas.openxmlformats.org/officeDocument/2006/relationships/tags" Target="../tags/tag311.xml"/><Relationship Id="rId22" Type="http://schemas.openxmlformats.org/officeDocument/2006/relationships/image" Target="../media/image9.png"/><Relationship Id="rId21" Type="http://schemas.openxmlformats.org/officeDocument/2006/relationships/tags" Target="../tags/tag310.xml"/><Relationship Id="rId20" Type="http://schemas.openxmlformats.org/officeDocument/2006/relationships/tags" Target="../tags/tag309.xml"/><Relationship Id="rId2" Type="http://schemas.openxmlformats.org/officeDocument/2006/relationships/tags" Target="../tags/tag291.xml"/><Relationship Id="rId19" Type="http://schemas.openxmlformats.org/officeDocument/2006/relationships/tags" Target="../tags/tag308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tags" Target="../tags/tag29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tags" Target="../tags/tag3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tags" Target="../tags/tag3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2674621" y="4473575"/>
            <a:ext cx="6702552" cy="251999"/>
          </a:xfrm>
          <a:prstGeom prst="rect">
            <a:avLst/>
          </a:prstGeom>
          <a:noFill/>
        </p:spPr>
        <p:txBody>
          <a:bodyPr wrap="square"/>
          <a:lstStyle/>
          <a:p>
            <a:pPr algn="ctr" defTabSz="457200">
              <a:defRPr sz="1500" b="0">
                <a:solidFill>
                  <a:srgbClr val="D0DCE8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团队名称：</a:t>
            </a:r>
            <a:r>
              <a:rPr lang="en-US">
                <a:solidFill>
                  <a:schemeClr val="tx1"/>
                </a:solidFill>
                <a:latin typeface="+mn-lt"/>
              </a:rPr>
              <a:t>Lp</a:t>
            </a:r>
            <a:endParaRPr lang="en-US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王者荣耀近两年皮肤数据分析</a:t>
            </a:r>
            <a:endParaRPr lang="zh-CN" altLang="en-US"/>
          </a:p>
        </p:txBody>
      </p:sp>
      <p:sp>
        <p:nvSpPr>
          <p:cNvPr id="8" name="年份"/>
          <p:cNvSpPr>
            <a:spLocks noGrp="1"/>
          </p:cNvSpPr>
          <p:nvPr>
            <p:ph type="body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zh-CN"/>
              <a:t>汇报日期：</a:t>
            </a:r>
            <a:r>
              <a:rPr lang="en-US" altLang="zh-CN"/>
              <a:t>2026 </a:t>
            </a:r>
            <a:r>
              <a:rPr lang="zh-CN" altLang="en-US"/>
              <a:t>年</a:t>
            </a:r>
            <a:r>
              <a:rPr lang="en-US" altLang="zh-CN"/>
              <a:t> 7 </a:t>
            </a:r>
            <a:r>
              <a:rPr lang="zh-CN" altLang="en-US"/>
              <a:t>月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altLang="en-US"/>
              <a:t>汇报人：李俊葆</a:t>
            </a:r>
            <a:r>
              <a:rPr altLang="zh-CN"/>
              <a:t> </a:t>
            </a:r>
            <a:r>
              <a:t>蒋鑫 张文旗</a:t>
            </a: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任意多边形: 形状 11"/>
          <p:cNvSpPr/>
          <p:nvPr>
            <p:custDataLst>
              <p:tags r:id="rId2"/>
            </p:custDataLst>
          </p:nvPr>
        </p:nvSpPr>
        <p:spPr>
          <a:xfrm>
            <a:off x="2740849" y="780369"/>
            <a:ext cx="4623696" cy="654979"/>
          </a:xfrm>
          <a:custGeom>
            <a:avLst/>
            <a:gdLst/>
            <a:ahLst/>
            <a:cxnLst/>
            <a:rect l="l" t="t" r="r" b="b"/>
            <a:pathLst>
              <a:path w="4628517" h="655662">
                <a:moveTo>
                  <a:pt x="865138" y="117053"/>
                </a:moveTo>
                <a:cubicBezTo>
                  <a:pt x="812205" y="117053"/>
                  <a:pt x="770527" y="136698"/>
                  <a:pt x="740104" y="175989"/>
                </a:cubicBezTo>
                <a:cubicBezTo>
                  <a:pt x="709681" y="215280"/>
                  <a:pt x="694469" y="266166"/>
                  <a:pt x="694469" y="328649"/>
                </a:cubicBezTo>
                <a:cubicBezTo>
                  <a:pt x="694469" y="390314"/>
                  <a:pt x="709340" y="440723"/>
                  <a:pt x="739080" y="479877"/>
                </a:cubicBezTo>
                <a:cubicBezTo>
                  <a:pt x="768821" y="519032"/>
                  <a:pt x="809613" y="538609"/>
                  <a:pt x="861454" y="538609"/>
                </a:cubicBezTo>
                <a:cubicBezTo>
                  <a:pt x="914388" y="538609"/>
                  <a:pt x="955588" y="519850"/>
                  <a:pt x="985056" y="482333"/>
                </a:cubicBezTo>
                <a:cubicBezTo>
                  <a:pt x="1014524" y="444816"/>
                  <a:pt x="1029258" y="394407"/>
                  <a:pt x="1029258" y="331105"/>
                </a:cubicBezTo>
                <a:cubicBezTo>
                  <a:pt x="1029258" y="265075"/>
                  <a:pt x="1014933" y="212892"/>
                  <a:pt x="986284" y="174557"/>
                </a:cubicBezTo>
                <a:cubicBezTo>
                  <a:pt x="957634" y="136221"/>
                  <a:pt x="917253" y="117053"/>
                  <a:pt x="865138" y="117053"/>
                </a:cubicBezTo>
                <a:close/>
                <a:moveTo>
                  <a:pt x="3647480" y="10641"/>
                </a:moveTo>
                <a:lnTo>
                  <a:pt x="4144342" y="10641"/>
                </a:lnTo>
                <a:lnTo>
                  <a:pt x="4144342" y="121146"/>
                </a:lnTo>
                <a:lnTo>
                  <a:pt x="3963442" y="121146"/>
                </a:lnTo>
                <a:lnTo>
                  <a:pt x="3963442" y="644612"/>
                </a:lnTo>
                <a:lnTo>
                  <a:pt x="3827971" y="644612"/>
                </a:lnTo>
                <a:lnTo>
                  <a:pt x="3827971" y="121146"/>
                </a:lnTo>
                <a:lnTo>
                  <a:pt x="3647480" y="121146"/>
                </a:lnTo>
                <a:close/>
                <a:moveTo>
                  <a:pt x="2992450" y="10641"/>
                </a:moveTo>
                <a:lnTo>
                  <a:pt x="3139790" y="10641"/>
                </a:lnTo>
                <a:lnTo>
                  <a:pt x="3398453" y="409277"/>
                </a:lnTo>
                <a:cubicBezTo>
                  <a:pt x="3415643" y="435744"/>
                  <a:pt x="3426147" y="452524"/>
                  <a:pt x="3429968" y="459618"/>
                </a:cubicBezTo>
                <a:lnTo>
                  <a:pt x="3432014" y="459618"/>
                </a:lnTo>
                <a:cubicBezTo>
                  <a:pt x="3429285" y="444338"/>
                  <a:pt x="3427921" y="415143"/>
                  <a:pt x="3427921" y="372033"/>
                </a:cubicBezTo>
                <a:lnTo>
                  <a:pt x="3427921" y="10641"/>
                </a:lnTo>
                <a:lnTo>
                  <a:pt x="3556025" y="10641"/>
                </a:lnTo>
                <a:lnTo>
                  <a:pt x="3556025" y="644612"/>
                </a:lnTo>
                <a:lnTo>
                  <a:pt x="3417689" y="644612"/>
                </a:lnTo>
                <a:lnTo>
                  <a:pt x="3149203" y="234516"/>
                </a:lnTo>
                <a:cubicBezTo>
                  <a:pt x="3135288" y="213233"/>
                  <a:pt x="3125192" y="196044"/>
                  <a:pt x="3118916" y="182947"/>
                </a:cubicBezTo>
                <a:lnTo>
                  <a:pt x="3116870" y="182947"/>
                </a:lnTo>
                <a:cubicBezTo>
                  <a:pt x="3119326" y="204775"/>
                  <a:pt x="3120554" y="238472"/>
                  <a:pt x="3120554" y="284038"/>
                </a:cubicBezTo>
                <a:lnTo>
                  <a:pt x="3120554" y="644612"/>
                </a:lnTo>
                <a:lnTo>
                  <a:pt x="2992450" y="644612"/>
                </a:lnTo>
                <a:close/>
                <a:moveTo>
                  <a:pt x="2516200" y="10641"/>
                </a:moveTo>
                <a:lnTo>
                  <a:pt x="2876773" y="10641"/>
                </a:lnTo>
                <a:lnTo>
                  <a:pt x="2876773" y="121146"/>
                </a:lnTo>
                <a:lnTo>
                  <a:pt x="2651261" y="121146"/>
                </a:lnTo>
                <a:lnTo>
                  <a:pt x="2651261" y="270532"/>
                </a:lnTo>
                <a:lnTo>
                  <a:pt x="2860811" y="270532"/>
                </a:lnTo>
                <a:lnTo>
                  <a:pt x="2860811" y="380628"/>
                </a:lnTo>
                <a:lnTo>
                  <a:pt x="2651261" y="380628"/>
                </a:lnTo>
                <a:lnTo>
                  <a:pt x="2651261" y="534107"/>
                </a:lnTo>
                <a:lnTo>
                  <a:pt x="2891507" y="534107"/>
                </a:lnTo>
                <a:lnTo>
                  <a:pt x="2891507" y="644612"/>
                </a:lnTo>
                <a:lnTo>
                  <a:pt x="2516200" y="644612"/>
                </a:lnTo>
                <a:close/>
                <a:moveTo>
                  <a:pt x="1932980" y="10641"/>
                </a:moveTo>
                <a:lnTo>
                  <a:pt x="2429842" y="10641"/>
                </a:lnTo>
                <a:lnTo>
                  <a:pt x="2429842" y="121146"/>
                </a:lnTo>
                <a:lnTo>
                  <a:pt x="2248942" y="121146"/>
                </a:lnTo>
                <a:lnTo>
                  <a:pt x="2248942" y="644612"/>
                </a:lnTo>
                <a:lnTo>
                  <a:pt x="2113471" y="644612"/>
                </a:lnTo>
                <a:lnTo>
                  <a:pt x="2113471" y="121146"/>
                </a:lnTo>
                <a:lnTo>
                  <a:pt x="1932980" y="121146"/>
                </a:lnTo>
                <a:close/>
                <a:moveTo>
                  <a:pt x="1277950" y="10641"/>
                </a:moveTo>
                <a:lnTo>
                  <a:pt x="1425290" y="10641"/>
                </a:lnTo>
                <a:lnTo>
                  <a:pt x="1683953" y="409277"/>
                </a:lnTo>
                <a:cubicBezTo>
                  <a:pt x="1701143" y="435744"/>
                  <a:pt x="1711647" y="452524"/>
                  <a:pt x="1715467" y="459618"/>
                </a:cubicBezTo>
                <a:lnTo>
                  <a:pt x="1717514" y="459618"/>
                </a:lnTo>
                <a:cubicBezTo>
                  <a:pt x="1714785" y="444338"/>
                  <a:pt x="1713421" y="415143"/>
                  <a:pt x="1713421" y="372033"/>
                </a:cubicBezTo>
                <a:lnTo>
                  <a:pt x="1713421" y="10641"/>
                </a:lnTo>
                <a:lnTo>
                  <a:pt x="1841525" y="10641"/>
                </a:lnTo>
                <a:lnTo>
                  <a:pt x="1841525" y="644612"/>
                </a:lnTo>
                <a:lnTo>
                  <a:pt x="1703189" y="644612"/>
                </a:lnTo>
                <a:lnTo>
                  <a:pt x="1434703" y="234516"/>
                </a:lnTo>
                <a:cubicBezTo>
                  <a:pt x="1420788" y="213233"/>
                  <a:pt x="1410692" y="196044"/>
                  <a:pt x="1404417" y="182947"/>
                </a:cubicBezTo>
                <a:lnTo>
                  <a:pt x="1402370" y="182947"/>
                </a:lnTo>
                <a:cubicBezTo>
                  <a:pt x="1404826" y="204775"/>
                  <a:pt x="1406054" y="238472"/>
                  <a:pt x="1406054" y="284038"/>
                </a:cubicBezTo>
                <a:lnTo>
                  <a:pt x="1406054" y="644612"/>
                </a:lnTo>
                <a:lnTo>
                  <a:pt x="1277950" y="644612"/>
                </a:lnTo>
                <a:close/>
                <a:moveTo>
                  <a:pt x="4444752" y="0"/>
                </a:moveTo>
                <a:cubicBezTo>
                  <a:pt x="4506689" y="0"/>
                  <a:pt x="4558667" y="8049"/>
                  <a:pt x="4600687" y="24147"/>
                </a:cubicBezTo>
                <a:lnTo>
                  <a:pt x="4600687" y="151023"/>
                </a:lnTo>
                <a:cubicBezTo>
                  <a:pt x="4558122" y="122101"/>
                  <a:pt x="4508326" y="107640"/>
                  <a:pt x="4451300" y="107640"/>
                </a:cubicBezTo>
                <a:cubicBezTo>
                  <a:pt x="4418013" y="107640"/>
                  <a:pt x="4391410" y="113711"/>
                  <a:pt x="4371491" y="125852"/>
                </a:cubicBezTo>
                <a:cubicBezTo>
                  <a:pt x="4351573" y="137994"/>
                  <a:pt x="4341614" y="154297"/>
                  <a:pt x="4341614" y="174761"/>
                </a:cubicBezTo>
                <a:cubicBezTo>
                  <a:pt x="4341614" y="191132"/>
                  <a:pt x="4348435" y="206207"/>
                  <a:pt x="4362078" y="219986"/>
                </a:cubicBezTo>
                <a:cubicBezTo>
                  <a:pt x="4375720" y="233765"/>
                  <a:pt x="4409418" y="252387"/>
                  <a:pt x="4463169" y="275853"/>
                </a:cubicBezTo>
                <a:cubicBezTo>
                  <a:pt x="4526198" y="302865"/>
                  <a:pt x="4569513" y="331378"/>
                  <a:pt x="4593115" y="361392"/>
                </a:cubicBezTo>
                <a:cubicBezTo>
                  <a:pt x="4616717" y="391405"/>
                  <a:pt x="4628517" y="427149"/>
                  <a:pt x="4628517" y="468622"/>
                </a:cubicBezTo>
                <a:cubicBezTo>
                  <a:pt x="4628517" y="529468"/>
                  <a:pt x="4606962" y="575853"/>
                  <a:pt x="4563852" y="607777"/>
                </a:cubicBezTo>
                <a:cubicBezTo>
                  <a:pt x="4520741" y="639700"/>
                  <a:pt x="4459486" y="655662"/>
                  <a:pt x="4380086" y="655662"/>
                </a:cubicBezTo>
                <a:cubicBezTo>
                  <a:pt x="4307508" y="655662"/>
                  <a:pt x="4248026" y="643929"/>
                  <a:pt x="4201641" y="620464"/>
                </a:cubicBezTo>
                <a:lnTo>
                  <a:pt x="4201641" y="484993"/>
                </a:lnTo>
                <a:cubicBezTo>
                  <a:pt x="4252665" y="527285"/>
                  <a:pt x="4310645" y="548431"/>
                  <a:pt x="4375584" y="548431"/>
                </a:cubicBezTo>
                <a:cubicBezTo>
                  <a:pt x="4412419" y="548431"/>
                  <a:pt x="4440114" y="542088"/>
                  <a:pt x="4458667" y="529400"/>
                </a:cubicBezTo>
                <a:cubicBezTo>
                  <a:pt x="4477221" y="516712"/>
                  <a:pt x="4486498" y="500410"/>
                  <a:pt x="4486498" y="480491"/>
                </a:cubicBezTo>
                <a:cubicBezTo>
                  <a:pt x="4486498" y="463302"/>
                  <a:pt x="4479131" y="447067"/>
                  <a:pt x="4464397" y="431787"/>
                </a:cubicBezTo>
                <a:cubicBezTo>
                  <a:pt x="4449663" y="416508"/>
                  <a:pt x="4410782" y="395771"/>
                  <a:pt x="4347753" y="369577"/>
                </a:cubicBezTo>
                <a:cubicBezTo>
                  <a:pt x="4248708" y="327558"/>
                  <a:pt x="4199186" y="266439"/>
                  <a:pt x="4199186" y="186221"/>
                </a:cubicBezTo>
                <a:cubicBezTo>
                  <a:pt x="4199186" y="127285"/>
                  <a:pt x="4221627" y="81514"/>
                  <a:pt x="4266512" y="48908"/>
                </a:cubicBezTo>
                <a:cubicBezTo>
                  <a:pt x="4311396" y="16303"/>
                  <a:pt x="4370809" y="0"/>
                  <a:pt x="4444752" y="0"/>
                </a:cubicBezTo>
                <a:close/>
                <a:moveTo>
                  <a:pt x="869231" y="0"/>
                </a:moveTo>
                <a:cubicBezTo>
                  <a:pt x="959817" y="0"/>
                  <a:pt x="1032737" y="30150"/>
                  <a:pt x="1087989" y="90450"/>
                </a:cubicBezTo>
                <a:cubicBezTo>
                  <a:pt x="1143242" y="150750"/>
                  <a:pt x="1170868" y="228240"/>
                  <a:pt x="1170868" y="322920"/>
                </a:cubicBezTo>
                <a:cubicBezTo>
                  <a:pt x="1170868" y="421692"/>
                  <a:pt x="1142150" y="501842"/>
                  <a:pt x="1084715" y="563370"/>
                </a:cubicBezTo>
                <a:cubicBezTo>
                  <a:pt x="1027280" y="624898"/>
                  <a:pt x="952041" y="655662"/>
                  <a:pt x="858999" y="655662"/>
                </a:cubicBezTo>
                <a:cubicBezTo>
                  <a:pt x="768139" y="655662"/>
                  <a:pt x="694333" y="625853"/>
                  <a:pt x="637580" y="566235"/>
                </a:cubicBezTo>
                <a:cubicBezTo>
                  <a:pt x="580827" y="506617"/>
                  <a:pt x="552450" y="429877"/>
                  <a:pt x="552450" y="336016"/>
                </a:cubicBezTo>
                <a:cubicBezTo>
                  <a:pt x="552450" y="236698"/>
                  <a:pt x="581440" y="155866"/>
                  <a:pt x="639421" y="93520"/>
                </a:cubicBezTo>
                <a:cubicBezTo>
                  <a:pt x="697402" y="31173"/>
                  <a:pt x="774005" y="0"/>
                  <a:pt x="869231" y="0"/>
                </a:cubicBezTo>
                <a:close/>
                <a:moveTo>
                  <a:pt x="336426" y="0"/>
                </a:moveTo>
                <a:cubicBezTo>
                  <a:pt x="398363" y="0"/>
                  <a:pt x="450205" y="8049"/>
                  <a:pt x="491951" y="24147"/>
                </a:cubicBezTo>
                <a:lnTo>
                  <a:pt x="491951" y="154707"/>
                </a:lnTo>
                <a:cubicBezTo>
                  <a:pt x="449114" y="129604"/>
                  <a:pt x="400546" y="117053"/>
                  <a:pt x="346249" y="117053"/>
                </a:cubicBezTo>
                <a:cubicBezTo>
                  <a:pt x="284311" y="117053"/>
                  <a:pt x="234789" y="136835"/>
                  <a:pt x="197681" y="176398"/>
                </a:cubicBezTo>
                <a:cubicBezTo>
                  <a:pt x="160573" y="215962"/>
                  <a:pt x="142019" y="267667"/>
                  <a:pt x="142019" y="331514"/>
                </a:cubicBezTo>
                <a:cubicBezTo>
                  <a:pt x="142019" y="393725"/>
                  <a:pt x="159618" y="443793"/>
                  <a:pt x="194816" y="481719"/>
                </a:cubicBezTo>
                <a:cubicBezTo>
                  <a:pt x="230014" y="519646"/>
                  <a:pt x="277626" y="538609"/>
                  <a:pt x="337654" y="538609"/>
                </a:cubicBezTo>
                <a:cubicBezTo>
                  <a:pt x="394134" y="538609"/>
                  <a:pt x="445567" y="524966"/>
                  <a:pt x="491951" y="497681"/>
                </a:cubicBezTo>
                <a:lnTo>
                  <a:pt x="491951" y="621692"/>
                </a:lnTo>
                <a:cubicBezTo>
                  <a:pt x="445839" y="644339"/>
                  <a:pt x="385676" y="655662"/>
                  <a:pt x="311460" y="655662"/>
                </a:cubicBezTo>
                <a:cubicBezTo>
                  <a:pt x="215962" y="655662"/>
                  <a:pt x="140177" y="627081"/>
                  <a:pt x="84106" y="569918"/>
                </a:cubicBezTo>
                <a:cubicBezTo>
                  <a:pt x="28035" y="512756"/>
                  <a:pt x="0" y="436562"/>
                  <a:pt x="0" y="341337"/>
                </a:cubicBezTo>
                <a:cubicBezTo>
                  <a:pt x="0" y="241201"/>
                  <a:pt x="31310" y="159277"/>
                  <a:pt x="93929" y="95566"/>
                </a:cubicBezTo>
                <a:cubicBezTo>
                  <a:pt x="156549" y="31855"/>
                  <a:pt x="237381" y="0"/>
                  <a:pt x="336426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zh-CN" altLang="en-US"/>
          </a:p>
        </p:txBody>
      </p:sp>
      <p:sp>
        <p:nvSpPr>
          <p:cNvPr id="3" name="序号"/>
          <p:cNvSpPr txBox="1"/>
          <p:nvPr>
            <p:custDataLst>
              <p:tags r:id="rId3"/>
            </p:custDataLst>
          </p:nvPr>
        </p:nvSpPr>
        <p:spPr>
          <a:xfrm>
            <a:off x="1108512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01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4"/>
            </p:custDataLst>
          </p:nvPr>
        </p:nvSpPr>
        <p:spPr>
          <a:xfrm>
            <a:off x="2107595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项目背景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Review of work content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序号"/>
          <p:cNvSpPr txBox="1"/>
          <p:nvPr>
            <p:custDataLst>
              <p:tags r:id="rId5"/>
            </p:custDataLst>
          </p:nvPr>
        </p:nvSpPr>
        <p:spPr>
          <a:xfrm>
            <a:off x="6327215" y="2711563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02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项标题"/>
          <p:cNvSpPr txBox="1"/>
          <p:nvPr>
            <p:custDataLst>
              <p:tags r:id="rId6"/>
            </p:custDataLst>
          </p:nvPr>
        </p:nvSpPr>
        <p:spPr>
          <a:xfrm>
            <a:off x="7326298" y="2773728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小组成员分工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Market data analysis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序号"/>
          <p:cNvSpPr txBox="1"/>
          <p:nvPr>
            <p:custDataLst>
              <p:tags r:id="rId7"/>
            </p:custDataLst>
          </p:nvPr>
        </p:nvSpPr>
        <p:spPr>
          <a:xfrm>
            <a:off x="1108512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03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1" name="项标题"/>
          <p:cNvSpPr txBox="1"/>
          <p:nvPr>
            <p:custDataLst>
              <p:tags r:id="rId8"/>
            </p:custDataLst>
          </p:nvPr>
        </p:nvSpPr>
        <p:spPr>
          <a:xfrm>
            <a:off x="2107595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研究过程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en-US" altLang="zh-CN" spc="300" dirty="0">
                <a:solidFill>
                  <a:schemeClr val="tx1"/>
                </a:solidFill>
                <a:latin typeface="+mn-ea"/>
              </a:rPr>
              <a:t>Research process</a:t>
            </a:r>
            <a:endParaRPr lang="en-US" altLang="zh-CN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序号"/>
          <p:cNvSpPr txBox="1"/>
          <p:nvPr>
            <p:custDataLst>
              <p:tags r:id="rId9"/>
            </p:custDataLst>
          </p:nvPr>
        </p:nvSpPr>
        <p:spPr>
          <a:xfrm>
            <a:off x="6327215" y="4249200"/>
            <a:ext cx="880462" cy="78023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n-ea"/>
              </a:rPr>
              <a:t>04</a:t>
            </a:r>
            <a:endParaRPr lang="en-US" sz="4800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10"/>
            </p:custDataLst>
          </p:nvPr>
        </p:nvSpPr>
        <p:spPr>
          <a:xfrm>
            <a:off x="7326298" y="4311365"/>
            <a:ext cx="4096558" cy="6552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经验教训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  <a:p>
            <a:pPr marL="0" lvl="0" defTabSz="914400">
              <a:lnSpc>
                <a:spcPct val="100000"/>
              </a:lnSpc>
            </a:pPr>
            <a:r>
              <a:rPr lang="zh-CN" altLang="en-US" spc="300" dirty="0">
                <a:solidFill>
                  <a:schemeClr val="tx1"/>
                </a:solidFill>
                <a:latin typeface="+mn-ea"/>
              </a:rPr>
              <a:t>Future work planning</a:t>
            </a:r>
            <a:endParaRPr lang="zh-CN" altLang="en-US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项目背景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4542117" y="2094478"/>
            <a:ext cx="3104590" cy="3116539"/>
            <a:chOff x="3370729" y="1812645"/>
            <a:chExt cx="2329049" cy="2338013"/>
          </a:xfrm>
        </p:grpSpPr>
        <p:sp>
          <p:nvSpPr>
            <p:cNvPr id="2" name="泪滴形 1"/>
            <p:cNvSpPr/>
            <p:nvPr>
              <p:custDataLst>
                <p:tags r:id="rId2"/>
              </p:custDataLst>
            </p:nvPr>
          </p:nvSpPr>
          <p:spPr>
            <a:xfrm>
              <a:off x="3379694" y="3013916"/>
              <a:ext cx="1127778" cy="1127778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6" name="泪滴形 15"/>
            <p:cNvSpPr/>
            <p:nvPr>
              <p:custDataLst>
                <p:tags r:id="rId3"/>
              </p:custDataLst>
            </p:nvPr>
          </p:nvSpPr>
          <p:spPr>
            <a:xfrm flipH="1">
              <a:off x="4572000" y="3022880"/>
              <a:ext cx="1127778" cy="1127778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7" name="泪滴形 16"/>
            <p:cNvSpPr/>
            <p:nvPr>
              <p:custDataLst>
                <p:tags r:id="rId4"/>
              </p:custDataLst>
            </p:nvPr>
          </p:nvSpPr>
          <p:spPr>
            <a:xfrm flipV="1">
              <a:off x="3370729" y="1812645"/>
              <a:ext cx="1127778" cy="1127778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18" name="泪滴形 17"/>
            <p:cNvSpPr/>
            <p:nvPr>
              <p:custDataLst>
                <p:tags r:id="rId5"/>
              </p:custDataLst>
            </p:nvPr>
          </p:nvSpPr>
          <p:spPr>
            <a:xfrm flipH="1" flipV="1">
              <a:off x="4572000" y="1812645"/>
              <a:ext cx="1127778" cy="1127778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12" name="矩形 11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6"/>
            </p:custDataLst>
          </p:nvPr>
        </p:nvSpPr>
        <p:spPr>
          <a:xfrm>
            <a:off x="2282829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研究背景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3" name="矩形 1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7"/>
            </p:custDataLst>
          </p:nvPr>
        </p:nvSpPr>
        <p:spPr>
          <a:xfrm>
            <a:off x="1214994" y="2370096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王者荣耀作为热门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MOBA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游戏，皮肤系统是其核心商业化模块。通过数据分析揭示皮肤投放规律，理解官方运营策略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4" name="矩形 13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8"/>
            </p:custDataLst>
          </p:nvPr>
        </p:nvSpPr>
        <p:spPr>
          <a:xfrm>
            <a:off x="2282829" y="3792821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项目目标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15" name="矩形 1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9"/>
            </p:custDataLst>
          </p:nvPr>
        </p:nvSpPr>
        <p:spPr>
          <a:xfrm>
            <a:off x="1214994" y="4169214"/>
            <a:ext cx="2981782" cy="138366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构建从数据采集、清洗、标准化到可视化分析的完整数据处理流程，揭示皮肤投放的时间规律、付费层级结构与英雄更新策略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>
            <p:custDataLst>
              <p:tags r:id="rId10"/>
            </p:custDataLst>
          </p:nvPr>
        </p:nvSpPr>
        <p:spPr>
          <a:xfrm>
            <a:off x="7918847" y="1993703"/>
            <a:ext cx="1913947" cy="420370"/>
          </a:xfrm>
          <a:prstGeom prst="rect">
            <a:avLst/>
          </a:prstGeom>
        </p:spPr>
        <p:txBody>
          <a:bodyPr wrap="square">
            <a:normAutofit fontScale="975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35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cs"/>
                <a:sym typeface="+mn-lt"/>
              </a:rPr>
              <a:t>数据来源</a:t>
            </a:r>
            <a:endParaRPr kumimoji="0" lang="zh-CN" altLang="en-US" sz="2135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29" name="矩形 2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1"/>
            </p:custDataLst>
          </p:nvPr>
        </p:nvSpPr>
        <p:spPr>
          <a:xfrm>
            <a:off x="7918847" y="2370096"/>
            <a:ext cx="2981782" cy="203009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数据源：王者荣耀官方网站英雄资料板块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采集方式：通过开发者工具定位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herolist.json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接口，获取前端异步渲染数据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Arial" panose="020B0604020202020204" pitchFamily="34" charset="0"/>
                <a:sym typeface="Calibri" panose="020F0502020204030204" charset="0"/>
              </a:rPr>
              <a:t>数据规模：156款皮肤完整信息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19" name="Freeform 5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061799" y="2597015"/>
            <a:ext cx="522832" cy="445928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0" name="Group 8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3"/>
            </p:custDataLst>
          </p:nvPr>
        </p:nvGrpSpPr>
        <p:grpSpPr bwMode="auto">
          <a:xfrm>
            <a:off x="5093244" y="4080422"/>
            <a:ext cx="459943" cy="536206"/>
            <a:chOff x="2492" y="1167"/>
            <a:chExt cx="778" cy="907"/>
          </a:xfrm>
          <a:solidFill>
            <a:schemeClr val="bg1"/>
          </a:solidFill>
        </p:grpSpPr>
        <p:sp>
          <p:nvSpPr>
            <p:cNvPr id="21" name="Freeform 9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12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5" name="Group 20" descr="e7d195523061f1c09e9d68d7cf438b91ef959ecb14fc25d26BBA7F7DBC18E55DFF4014AF651F0BF2569D4B6C1DA7F1A4683A481403BD872FC687266AD13265C1DE7C373772FD8728ABDD69ADD03BFF5BE2862BC891DBB79EE1F14050B052BA5A4397BCF0BC09E120F8BD114D70492B2D8B9DEF402940EFC25337DF2F5FA363B3D3A0731CD835CCFACB15917A37AACFB3"/>
          <p:cNvGrpSpPr>
            <a:grpSpLocks noChangeAspect="1"/>
          </p:cNvGrpSpPr>
          <p:nvPr>
            <p:custDataLst>
              <p:tags r:id="rId18"/>
            </p:custDataLst>
          </p:nvPr>
        </p:nvGrpSpPr>
        <p:grpSpPr bwMode="auto">
          <a:xfrm>
            <a:off x="6509730" y="4108304"/>
            <a:ext cx="687851" cy="515134"/>
            <a:chOff x="2423" y="1278"/>
            <a:chExt cx="912" cy="683"/>
          </a:xfrm>
          <a:solidFill>
            <a:schemeClr val="bg1"/>
          </a:solidFill>
        </p:grpSpPr>
        <p:sp>
          <p:nvSpPr>
            <p:cNvPr id="26" name="Freeform 21"/>
            <p:cNvSpPr/>
            <p:nvPr>
              <p:custDataLst>
                <p:tags r:id="rId19"/>
              </p:custDataLst>
            </p:nvPr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2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21"/>
            </p:custDataLst>
          </p:nvPr>
        </p:nvGrpSpPr>
        <p:grpSpPr>
          <a:xfrm>
            <a:off x="6594518" y="2615409"/>
            <a:ext cx="485363" cy="485363"/>
            <a:chOff x="5394312" y="2141343"/>
            <a:chExt cx="359165" cy="359165"/>
          </a:xfrm>
          <a:solidFill>
            <a:schemeClr val="bg1"/>
          </a:solidFill>
        </p:grpSpPr>
        <p:sp>
          <p:nvSpPr>
            <p:cNvPr id="33" name="AutoShape 56"/>
            <p:cNvSpPr/>
            <p:nvPr>
              <p:custDataLst>
                <p:tags r:id="rId22"/>
              </p:custDataLst>
            </p:nvPr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4" name="AutoShape 57"/>
            <p:cNvSpPr/>
            <p:nvPr>
              <p:custDataLst>
                <p:tags r:id="rId23"/>
              </p:custDataLst>
            </p:nvPr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  <p:sp>
          <p:nvSpPr>
            <p:cNvPr id="35" name="AutoShape 58"/>
            <p:cNvSpPr/>
            <p:nvPr>
              <p:custDataLst>
                <p:tags r:id="rId24"/>
              </p:custDataLst>
            </p:nvPr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25393" tIns="25393" rIns="25393" bIns="25393" anchor="ctr"/>
            <a:lstStyle/>
            <a:p>
              <a:pPr algn="ctr" defTabSz="228600">
                <a:defRPr/>
              </a:pPr>
              <a:endParaRPr lang="en-US" sz="2000" ker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宋体" panose="02010600030101010101" pitchFamily="2" charset="-122"/>
                <a:sym typeface="Gill Sans" charset="0"/>
              </a:endParaRPr>
            </a:p>
          </p:txBody>
        </p:sp>
      </p:grp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小组成员分工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02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2529" y="611338"/>
            <a:ext cx="10957774" cy="704865"/>
          </a:xfrm>
        </p:spPr>
        <p:txBody>
          <a:bodyPr/>
          <a:lstStyle/>
          <a:p>
            <a:r>
              <a:rPr lang="zh-CN" altLang="en-US"/>
              <a:t>成员分工</a:t>
            </a:r>
            <a:endParaRPr lang="zh-CN" altLang="en-US"/>
          </a:p>
        </p:txBody>
      </p:sp>
      <p:sp>
        <p:nvSpPr>
          <p:cNvPr id="8" name="Freeform 12"/>
          <p:cNvSpPr/>
          <p:nvPr>
            <p:custDataLst>
              <p:tags r:id="rId2"/>
            </p:custDataLst>
          </p:nvPr>
        </p:nvSpPr>
        <p:spPr bwMode="auto">
          <a:xfrm>
            <a:off x="1829880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Oval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5132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李俊葆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1"/>
          <p:cNvSpPr/>
          <p:nvPr>
            <p:custDataLst>
              <p:tags r:id="rId4"/>
            </p:custDataLst>
          </p:nvPr>
        </p:nvSpPr>
        <p:spPr>
          <a:xfrm>
            <a:off x="1647776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承担数据采集、数据清洗、项目文档撰写工作，同时输出整体研究思路，是项目前期方案规划与基础数据预处理、文档初撰的负责人。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1" name="Oval 1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74029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  <p:sp>
        <p:nvSpPr>
          <p:cNvPr id="12" name="Freeform 12"/>
          <p:cNvSpPr/>
          <p:nvPr>
            <p:custDataLst>
              <p:tags r:id="rId6"/>
            </p:custDataLst>
          </p:nvPr>
        </p:nvSpPr>
        <p:spPr bwMode="auto">
          <a:xfrm>
            <a:off x="5072219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  <a:alpha val="0"/>
                </a:schemeClr>
              </a:gs>
              <a:gs pos="65000">
                <a:schemeClr val="accent4">
                  <a:lumMod val="20000"/>
                  <a:lumOff val="80000"/>
                  <a:alpha val="48000"/>
                </a:schemeClr>
              </a:gs>
              <a:gs pos="100000">
                <a:schemeClr val="accent4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3" name="Oval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293663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蒋鑫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2"/>
          <p:cNvSpPr/>
          <p:nvPr>
            <p:custDataLst>
              <p:tags r:id="rId8"/>
            </p:custDataLst>
          </p:nvPr>
        </p:nvSpPr>
        <p:spPr>
          <a:xfrm>
            <a:off x="4890750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负责数据标准化处理、数据分析以及图表绘制工作，聚焦数据规范化处理与可视化呈现环节，挖掘数据价值并直观展示分析结果。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Oval 1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7003" y="3681295"/>
            <a:ext cx="156089" cy="15418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0000">
                <a:schemeClr val="accent4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p>
            <a:pPr algn="ctr" defTabSz="913765"/>
            <a:endParaRPr lang="en-US" sz="2000" b="1">
              <a:solidFill>
                <a:schemeClr val="bg1"/>
              </a:solidFill>
            </a:endParaRPr>
          </a:p>
        </p:txBody>
      </p:sp>
      <p:sp>
        <p:nvSpPr>
          <p:cNvPr id="18" name="Freeform 12"/>
          <p:cNvSpPr/>
          <p:nvPr>
            <p:custDataLst>
              <p:tags r:id="rId10"/>
            </p:custDataLst>
          </p:nvPr>
        </p:nvSpPr>
        <p:spPr bwMode="auto">
          <a:xfrm>
            <a:off x="8315193" y="2758085"/>
            <a:ext cx="2045022" cy="1018386"/>
          </a:xfrm>
          <a:custGeom>
            <a:avLst/>
            <a:gdLst>
              <a:gd name="T0" fmla="*/ 864 w 969"/>
              <a:gd name="T1" fmla="*/ 0 h 482"/>
              <a:gd name="T2" fmla="*/ 485 w 969"/>
              <a:gd name="T3" fmla="*/ 376 h 482"/>
              <a:gd name="T4" fmla="*/ 106 w 969"/>
              <a:gd name="T5" fmla="*/ 0 h 482"/>
              <a:gd name="T6" fmla="*/ 0 w 969"/>
              <a:gd name="T7" fmla="*/ 0 h 482"/>
              <a:gd name="T8" fmla="*/ 485 w 969"/>
              <a:gd name="T9" fmla="*/ 482 h 482"/>
              <a:gd name="T10" fmla="*/ 969 w 969"/>
              <a:gd name="T11" fmla="*/ 0 h 482"/>
              <a:gd name="T12" fmla="*/ 864 w 969"/>
              <a:gd name="T13" fmla="*/ 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9" h="482">
                <a:moveTo>
                  <a:pt x="864" y="0"/>
                </a:moveTo>
                <a:cubicBezTo>
                  <a:pt x="862" y="208"/>
                  <a:pt x="693" y="376"/>
                  <a:pt x="485" y="376"/>
                </a:cubicBezTo>
                <a:cubicBezTo>
                  <a:pt x="276" y="376"/>
                  <a:pt x="107" y="208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2" y="266"/>
                  <a:pt x="218" y="482"/>
                  <a:pt x="485" y="482"/>
                </a:cubicBezTo>
                <a:cubicBezTo>
                  <a:pt x="751" y="482"/>
                  <a:pt x="968" y="266"/>
                  <a:pt x="969" y="0"/>
                </a:cubicBezTo>
                <a:lnTo>
                  <a:pt x="86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chemeClr val="accent1">
                  <a:lumMod val="20000"/>
                  <a:lumOff val="80000"/>
                  <a:alpha val="48000"/>
                </a:schemeClr>
              </a:gs>
              <a:gs pos="100000">
                <a:schemeClr val="accent1">
                  <a:lumMod val="20000"/>
                  <a:lumOff val="80000"/>
                  <a:alpha val="87000"/>
                </a:scheme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en-US">
              <a:solidFill>
                <a:schemeClr val="dk1"/>
              </a:solidFill>
            </a:endParaRPr>
          </a:p>
        </p:txBody>
      </p:sp>
      <p:sp>
        <p:nvSpPr>
          <p:cNvPr id="19" name="Oval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536637" y="1956700"/>
            <a:ext cx="1602134" cy="1602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5400000" scaled="1"/>
            <a:tileRect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张文旗</a:t>
            </a:r>
            <a:endParaRPr lang="zh-CN" alt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3"/>
          <p:cNvSpPr/>
          <p:nvPr>
            <p:custDataLst>
              <p:tags r:id="rId12"/>
            </p:custDataLst>
          </p:nvPr>
        </p:nvSpPr>
        <p:spPr>
          <a:xfrm>
            <a:off x="8133724" y="4069614"/>
            <a:ext cx="2407961" cy="26173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负责资料整理、项目文档补充撰写，以及项目汇报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PPT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的制作工作，统筹资料归档、文档完善与可视化汇报材料的落地。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2" name="Oval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259342" y="3681295"/>
            <a:ext cx="156089" cy="15418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gradFill>
              <a:gsLst>
                <a:gs pos="0">
                  <a:srgbClr val="FFFFFF"/>
                </a:gs>
                <a:gs pos="53000">
                  <a:srgbClr val="FFFFFF">
                    <a:alpha val="0"/>
                  </a:srgbClr>
                </a:gs>
              </a:gsLst>
              <a:lin ang="16200000" scaled="0"/>
            </a:gradFill>
            <a:prstDash val="solid"/>
            <a:miter/>
          </a:ln>
          <a:effectLst>
            <a:outerShdw blurRad="342900" sx="102000" sy="102000" algn="ctr" rotWithShape="0">
              <a:schemeClr val="accent1"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431800" tIns="647700" rIns="431800" bIns="288290" numCol="1" spcCol="0" rtlCol="0" fromWordArt="0" anchor="ctr" anchorCtr="0" forceAA="0" compatLnSpc="1">
            <a:normAutofit fontScale="25000" lnSpcReduction="20000"/>
          </a:bodyPr>
          <a:p>
            <a:pPr algn="ctr"/>
            <a:endParaRPr lang="en-US" b="1" spc="130">
              <a:latin typeface="+中文标题" charset="0"/>
              <a:ea typeface="+mj-ea"/>
              <a:cs typeface="+mj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>
            <p:custDataLst>
              <p:tags r:id="rId1"/>
            </p:custDataLst>
          </p:nvPr>
        </p:nvSpPr>
        <p:spPr>
          <a:xfrm>
            <a:off x="3035202" y="3773458"/>
            <a:ext cx="6127948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Lorem ipsum dolor sit amet, consectetur adipiscing elit. Donec luctus nibh sit amet sem vulputate venenatis bibendum orci pulvinar. 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研究过程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03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数据采集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4/16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accent1"/>
                </a:solidFill>
                <a:latin typeface="+mj-lt"/>
              </a:rPr>
              <a:t>项目背景与研究目的</a:t>
            </a:r>
            <a:endParaRPr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angle 4"/>
          <p:cNvSpPr/>
          <p:nvPr>
            <p:custDataLst>
              <p:tags r:id="rId4"/>
            </p:custDataLst>
          </p:nvPr>
        </p:nvSpPr>
        <p:spPr>
          <a:xfrm>
            <a:off x="720000" y="1260000"/>
            <a:ext cx="43200" cy="30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007999" y="1350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1223999" y="126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王者荣耀皮肤系统是其核心商业化模块，皮肤投放策略直接影响营收结构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7999" y="21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223999" y="20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官方英雄资料页采用异步接口加载数据，静态 HTML 不可直接解析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7999" y="2934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1223999" y="2844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本研究通过抓取官方 JSON 接口获取结构化皮肤数据，覆盖 156 条记录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7999" y="3726000"/>
            <a:ext cx="108000" cy="10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1223999" y="363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研究目的：揭示皮肤投放的渠道分层策略、英雄运营优先级与月度商业化节奏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7999" y="2844000"/>
            <a:ext cx="43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数据采集方案与接口分析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目标接口：https://pvp.qq.com/zlkdatasys/heroskinlist.json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96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7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技术方法：开发者工具 Network 面板过滤 Fetch/XHR 请求，定位数据接口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68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59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字段映射：15 个混淆英文字段重命名为中文语义字段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401999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311999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输出成果：王者荣耀皮肤数据.csv，UTF-8-sig 编码确保中文兼容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238235" y="3906000"/>
            <a:ext cx="36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图1：浏览器开发者工具 Network 面板定位 heroskinlist.json 接口示意图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2" descr="IMG_25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92505" y="3618230"/>
            <a:ext cx="4036060" cy="32219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数据清洗与标准化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7/16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数据清洗流程 —— 两阶段逐级处理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第一阶段（date_wash1.py）：截取前 156 行有效数据，剔除接口尾部异常记录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764000"/>
            <a:ext cx="79200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第二阶段（date_wash2.py）：保留 5 个核心分析字段，将获取方式空值统一填充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Oval 9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处理结果：有效数据 156 条，空值填充覆盖率达 100%，零数据丢失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Oval 11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本模块输出：王者荣耀皮肤数据__.csv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4180955" y="5814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图2：标准化处理后数据样本预览（局部）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4" name="图片 -2147482621" descr="IMG_25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736148" y="2970213"/>
            <a:ext cx="5924550" cy="27527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8/16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数据标准化 —— 字段拆分、归一化与衍生标签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ight Arrow 4"/>
          <p:cNvSpPr/>
          <p:nvPr>
            <p:custDataLst>
              <p:tags r:id="rId4"/>
            </p:custDataLst>
          </p:nvPr>
        </p:nvSpPr>
        <p:spPr>
          <a:xfrm>
            <a:off x="2375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>
            <p:custDataLst>
              <p:tags r:id="rId5"/>
            </p:custDataLst>
          </p:nvPr>
        </p:nvSpPr>
        <p:spPr>
          <a:xfrm>
            <a:off x="1152000" y="1152000"/>
            <a:ext cx="792000" cy="7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1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20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品质拆分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720000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将"传说限定"拆为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"基础品质"+"是否限定"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ight Arrow 8"/>
          <p:cNvSpPr/>
          <p:nvPr>
            <p:custDataLst>
              <p:tags r:id="rId8"/>
            </p:custDataLst>
          </p:nvPr>
        </p:nvSpPr>
        <p:spPr>
          <a:xfrm>
            <a:off x="4823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Oval 9"/>
          <p:cNvSpPr/>
          <p:nvPr>
            <p:custDataLst>
              <p:tags r:id="rId9"/>
            </p:custDataLst>
          </p:nvPr>
        </p:nvSpPr>
        <p:spPr>
          <a:xfrm>
            <a:off x="3600000" y="1152000"/>
            <a:ext cx="792000" cy="79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2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3168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渠道归一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3168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零散描述归为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六大类获取方式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ight Arrow 12"/>
          <p:cNvSpPr/>
          <p:nvPr>
            <p:custDataLst>
              <p:tags r:id="rId12"/>
            </p:custDataLst>
          </p:nvPr>
        </p:nvSpPr>
        <p:spPr>
          <a:xfrm>
            <a:off x="7271999" y="1944000"/>
            <a:ext cx="540000" cy="18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13"/>
            </p:custDataLst>
          </p:nvPr>
        </p:nvSpPr>
        <p:spPr>
          <a:xfrm>
            <a:off x="6048000" y="1152000"/>
            <a:ext cx="792000" cy="7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3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5616000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时间标准化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5616000" y="2448000"/>
            <a:ext cx="1655999" cy="64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校验日期格式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拆分年份与月份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Oval 16"/>
          <p:cNvSpPr/>
          <p:nvPr>
            <p:custDataLst>
              <p:tags r:id="rId16"/>
            </p:custDataLst>
          </p:nvPr>
        </p:nvSpPr>
        <p:spPr>
          <a:xfrm>
            <a:off x="8495999" y="1152000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bg1"/>
                </a:solidFill>
                <a:latin typeface="+mn-lt"/>
              </a:rPr>
              <a:t>4</a:t>
            </a:r>
            <a:endParaRPr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8063999" y="2160000"/>
            <a:ext cx="1655999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n-lt"/>
              </a:rPr>
              <a:t>衍生标签</a:t>
            </a:r>
            <a:endParaRPr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8063999" y="2448000"/>
            <a:ext cx="1655999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映射付费层级</a:t>
            </a:r>
            <a:br>
              <a:rPr>
                <a:solidFill>
                  <a:schemeClr val="tx1"/>
                </a:solidFill>
                <a:latin typeface="+mn-lt"/>
              </a:rPr>
            </a:br>
            <a:r>
              <a:rPr>
                <a:solidFill>
                  <a:schemeClr val="tx1"/>
                </a:solidFill>
                <a:latin typeface="+mn-lt"/>
              </a:rPr>
              <a:t>高端/中端/入门/免费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ounded Rectangle 19"/>
          <p:cNvSpPr/>
          <p:nvPr>
            <p:custDataLst>
              <p:tags r:id="rId19"/>
            </p:custDataLst>
          </p:nvPr>
        </p:nvSpPr>
        <p:spPr>
          <a:xfrm>
            <a:off x="2160000" y="3600000"/>
            <a:ext cx="5760000" cy="54000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60000" y="3600000"/>
            <a:ext cx="5760000" cy="540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2340000" y="3672000"/>
            <a:ext cx="54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5">
                    <a:lumMod val="20000"/>
                    <a:lumOff val="80000"/>
                    <a:hueOff val="10800000"/>
                  </a:schemeClr>
                </a:solidFill>
                <a:latin typeface="+mn-lt"/>
              </a:rPr>
              <a:t>输出文件：王者荣耀皮肤数据_标准化版.csv</a:t>
            </a:r>
            <a:endParaRPr>
              <a:solidFill>
                <a:schemeClr val="accent5">
                  <a:lumMod val="20000"/>
                  <a:lumOff val="80000"/>
                  <a:hueOff val="10800000"/>
                </a:schemeClr>
              </a:solidFill>
              <a:latin typeface="+mn-lt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数据分析与可视化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939144" y="3546353"/>
            <a:ext cx="3329009" cy="19569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indent="0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仅通过一次全量数据遍历，同时完成「月度总上线量、月度限定数量、月度高端皮肤数量」三个指标的统计，时间复杂度为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 O (n)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，统计效率高。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标题 21"/>
          <p:cNvSpPr/>
          <p:nvPr>
            <p:ph type="title"/>
            <p:custDataLst>
              <p:tags r:id="rId2"/>
            </p:custDataLst>
          </p:nvPr>
        </p:nvSpPr>
        <p:spPr>
          <a:xfrm>
            <a:off x="938509" y="1354713"/>
            <a:ext cx="3329643" cy="1520509"/>
          </a:xfrm>
        </p:spPr>
        <p:txBody>
          <a:bodyPr>
            <a:normAutofit/>
          </a:bodyPr>
          <a:p>
            <a:pPr marL="0" indent="0" fontAlgn="auto">
              <a:lnSpc>
                <a:spcPct val="130000"/>
              </a:lnSpc>
            </a:pPr>
            <a:r>
              <a:rPr lang="zh-CN" altLang="en-US" sz="3595"/>
              <a:t>技术亮点</a:t>
            </a:r>
            <a:endParaRPr lang="zh-CN" altLang="en-US" sz="3595"/>
          </a:p>
        </p:txBody>
      </p:sp>
      <p:sp>
        <p:nvSpPr>
          <p:cNvPr id="6" name="同侧圆角矩形 5"/>
          <p:cNvSpPr/>
          <p:nvPr>
            <p:custDataLst>
              <p:tags r:id="rId3"/>
            </p:custDataLst>
          </p:nvPr>
        </p:nvSpPr>
        <p:spPr>
          <a:xfrm rot="10800000" flipV="1">
            <a:off x="5621831" y="6058968"/>
            <a:ext cx="5318294" cy="795461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侧圆角矩形 7"/>
          <p:cNvSpPr/>
          <p:nvPr>
            <p:custDataLst>
              <p:tags r:id="rId4"/>
            </p:custDataLst>
          </p:nvPr>
        </p:nvSpPr>
        <p:spPr>
          <a:xfrm rot="10800000" flipV="1">
            <a:off x="5769632" y="6185835"/>
            <a:ext cx="5022693" cy="667958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同侧圆角矩形 13"/>
          <p:cNvSpPr/>
          <p:nvPr>
            <p:custDataLst>
              <p:tags r:id="rId5"/>
            </p:custDataLst>
          </p:nvPr>
        </p:nvSpPr>
        <p:spPr>
          <a:xfrm rot="10800000">
            <a:off x="5621831" y="3572"/>
            <a:ext cx="5318294" cy="795461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同侧圆角矩形 14"/>
          <p:cNvSpPr/>
          <p:nvPr>
            <p:custDataLst>
              <p:tags r:id="rId6"/>
            </p:custDataLst>
          </p:nvPr>
        </p:nvSpPr>
        <p:spPr>
          <a:xfrm rot="10800000">
            <a:off x="5769632" y="4206"/>
            <a:ext cx="5022693" cy="667958"/>
          </a:xfrm>
          <a:prstGeom prst="round2SameRect">
            <a:avLst>
              <a:gd name="adj1" fmla="val 20600"/>
              <a:gd name="adj2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680" y="1782445"/>
            <a:ext cx="7507605" cy="404558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10/16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三大分析维度设计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165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01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获取方式 × 付费层级交叉分析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008000" y="3168000"/>
            <a:ext cx="2232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揭示渠道商业定位差异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5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115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百分比堆叠柱状图</a:t>
            </a:r>
            <a:endParaRPr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8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8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8"/>
            </p:custDataLst>
          </p:nvPr>
        </p:nvSpPr>
        <p:spPr>
          <a:xfrm>
            <a:off x="471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02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06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英雄皮肤更新频率分析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06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识别运营优先级与主推英雄梯队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1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421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横向条形图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40000" y="1152000"/>
            <a:ext cx="2808000" cy="36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40000" y="1152000"/>
            <a:ext cx="28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>
            <p:custDataLst>
              <p:tags r:id="rId12"/>
            </p:custDataLst>
          </p:nvPr>
        </p:nvSpPr>
        <p:spPr>
          <a:xfrm>
            <a:off x="7776000" y="1440000"/>
            <a:ext cx="936000" cy="9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03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7128000" y="2592000"/>
            <a:ext cx="2232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月度节点投放规律分析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7128000" y="3168000"/>
            <a:ext cx="223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验证商业化投放节奏与节点匹配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72000" y="3780000"/>
            <a:ext cx="1944000" cy="4320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7272000" y="3816000"/>
            <a:ext cx="1944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多折线对比图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52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8000" y="2160000"/>
            <a:ext cx="21600" cy="144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11/16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获取方式与付费层级交叉分析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0000" y="1188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007999" y="1152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数据表明：直售渠道以中端皮肤为核心（占比超 45%），同时覆盖高中低全层级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836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7999" y="1800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抽奖渠道中高端付费皮肤占比显著高于其他渠道，体现高价值变现定位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000" y="2484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1007999" y="2448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战令渠道聚焦中端品质，以高性价比促进赛季持续付费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0000" y="3132000"/>
            <a:ext cx="432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007999" y="3096000"/>
            <a:ext cx="7920000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免费福利渠道入门皮肤占比最高，承担拉新与活跃度提升功能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图3：各获取渠道付费层级结构百分比堆叠图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20" descr="IMG_26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77135" y="3480435"/>
            <a:ext cx="5257800" cy="23520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12/16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英雄皮肤更新频率分析与运营优先级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Oval 4"/>
          <p:cNvSpPr/>
          <p:nvPr>
            <p:custDataLst>
              <p:tags r:id="rId4"/>
            </p:custDataLst>
          </p:nvPr>
        </p:nvSpPr>
        <p:spPr>
          <a:xfrm>
            <a:off x="720000" y="1242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936000" y="1152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统计 45 位拥有 ≥2 款皮肤的英雄，全英雄平均更新周期为 232 天（约 7.7 个月）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7" name="Oval 6"/>
          <p:cNvSpPr/>
          <p:nvPr>
            <p:custDataLst>
              <p:tags r:id="rId6"/>
            </p:custDataLst>
          </p:nvPr>
        </p:nvSpPr>
        <p:spPr>
          <a:xfrm>
            <a:off x="720000" y="1890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936000" y="1800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超高频梯队（前 5 名）：曹操、吕布、莱西奥等，平均更新间隔低于 3 个月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Oval 8"/>
          <p:cNvSpPr/>
          <p:nvPr>
            <p:custDataLst>
              <p:tags r:id="rId8"/>
            </p:custDataLst>
          </p:nvPr>
        </p:nvSpPr>
        <p:spPr>
          <a:xfrm>
            <a:off x="720000" y="2538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936000" y="2448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长期 S 级主推英雄：西施、后羿、安琪拉、朵莉亚，皮肤数量多且更新周期短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Oval 10"/>
          <p:cNvSpPr/>
          <p:nvPr>
            <p:custDataLst>
              <p:tags r:id="rId10"/>
            </p:custDataLst>
          </p:nvPr>
        </p:nvSpPr>
        <p:spPr>
          <a:xfrm>
            <a:off x="720000" y="3186000"/>
            <a:ext cx="108000" cy="108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936000" y="3096000"/>
            <a:ext cx="100584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潜力上升英雄：敖隐、莱西奥等新英雄快速补皮，官方正在抬升其商业定位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800000" y="5922000"/>
            <a:ext cx="61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图4：英雄皮肤更新频率 Top20 排行榜（红色高亮为 Top3）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图片 -2147482619" descr="IMG_2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164715" y="3429000"/>
            <a:ext cx="5267325" cy="24930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13/16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月度节点投放规律分析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>
            <p:custDataLst>
              <p:tags r:id="rId4"/>
            </p:custDataLst>
          </p:nvPr>
        </p:nvSpPr>
        <p:spPr>
          <a:xfrm>
            <a:off x="720000" y="1152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792000" y="1188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1–2 月</a:t>
            </a:r>
            <a:endParaRPr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92000" y="1368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春节节点</a:t>
            </a:r>
            <a:endParaRPr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2232000" y="1206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皮肤上线总量与高端占比均达全年峰值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>
            <p:custDataLst>
              <p:tags r:id="rId8"/>
            </p:custDataLst>
          </p:nvPr>
        </p:nvSpPr>
        <p:spPr>
          <a:xfrm>
            <a:off x="720000" y="1764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792000" y="1800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7–8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>
            <p:custDataLst>
              <p:tags r:id="rId10"/>
            </p:custDataLst>
          </p:nvPr>
        </p:nvSpPr>
        <p:spPr>
          <a:xfrm>
            <a:off x="792000" y="1980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latin typeface="+mn-lt"/>
              </a:rPr>
              <a:t>暑期节点</a:t>
            </a:r>
            <a:endParaRPr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2232000" y="1818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限定皮肤占比为全年最高，利用限时策略刺激消费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>
            <p:custDataLst>
              <p:tags r:id="rId12"/>
            </p:custDataLst>
          </p:nvPr>
        </p:nvSpPr>
        <p:spPr>
          <a:xfrm>
            <a:off x="720000" y="2376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3"/>
            </p:custDataLst>
          </p:nvPr>
        </p:nvSpPr>
        <p:spPr>
          <a:xfrm>
            <a:off x="792000" y="2412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latin typeface="+mn-lt"/>
              </a:rPr>
              <a:t>10 月</a:t>
            </a:r>
            <a:endParaRPr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14"/>
            </p:custDataLst>
          </p:nvPr>
        </p:nvSpPr>
        <p:spPr>
          <a:xfrm>
            <a:off x="792000" y="2592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周年庆节点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15"/>
            </p:custDataLst>
          </p:nvPr>
        </p:nvSpPr>
        <p:spPr>
          <a:xfrm>
            <a:off x="2232000" y="2430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高端与限定皮肤占比均保持较高水平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>
            <p:custDataLst>
              <p:tags r:id="rId16"/>
            </p:custDataLst>
          </p:nvPr>
        </p:nvSpPr>
        <p:spPr>
          <a:xfrm>
            <a:off x="720000" y="2988000"/>
            <a:ext cx="1260000" cy="43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7"/>
            </p:custDataLst>
          </p:nvPr>
        </p:nvSpPr>
        <p:spPr>
          <a:xfrm>
            <a:off x="792000" y="3024000"/>
            <a:ext cx="1116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Arial" panose="020B0604020202020204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3、5、9 月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18"/>
            </p:custDataLst>
          </p:nvPr>
        </p:nvSpPr>
        <p:spPr>
          <a:xfrm>
            <a:off x="792000" y="3204000"/>
            <a:ext cx="1116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普通月份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9"/>
            </p:custDataLst>
          </p:nvPr>
        </p:nvSpPr>
        <p:spPr>
          <a:xfrm>
            <a:off x="2232000" y="3042000"/>
            <a:ext cx="684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上线量较低，主要用于版本更新与日常运营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>
            <p:custDataLst>
              <p:tags r:id="rId20"/>
            </p:custDataLst>
          </p:nvPr>
        </p:nvSpPr>
        <p:spPr>
          <a:xfrm>
            <a:off x="1620000" y="5922000"/>
            <a:ext cx="64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图5：月度皮肤上线总量、限定占比与高端占比趋势对比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" name="图片 -2147482618" descr="IMG_26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584450" y="3383915"/>
            <a:ext cx="5257800" cy="253809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544763" y="28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 defTabSz="457200">
              <a:defRPr sz="1100" b="0">
                <a:solidFill>
                  <a:srgbClr val="80A0C0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经验与教训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altLang="zh-CN" sz="1600" dirty="0"/>
            </a:br>
            <a:br>
              <a:rPr lang="zh-CN" altLang="en-US" sz="1600" dirty="0"/>
            </a:br>
            <a:endParaRPr lang="zh-CN" altLang="en-US" sz="1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247442" y="1119996"/>
            <a:ext cx="9141619" cy="1223681"/>
          </a:xfrm>
        </p:spPr>
        <p:txBody>
          <a:bodyPr>
            <a:normAutofit fontScale="25000" lnSpcReduction="20000"/>
          </a:bodyPr>
          <a:lstStyle/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endParaRPr lang="en-US" altLang="zh-CN" sz="8000" dirty="0"/>
          </a:p>
          <a:p>
            <a:pPr algn="l"/>
            <a:r>
              <a:rPr lang="zh-CN" altLang="en-US" sz="8000" dirty="0"/>
              <a:t>一、本次出现的问题</a:t>
            </a:r>
            <a:endParaRPr lang="en-US" altLang="zh-CN" sz="8000" dirty="0"/>
          </a:p>
          <a:p>
            <a:pPr algn="l"/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，采集王者荣耀皮肤数据时未提前禁用缓存，最终仅获取到</a:t>
            </a:r>
            <a:r>
              <a:rPr lang="en-US" altLang="zh-CN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条不完整数据，</a:t>
            </a:r>
            <a:endParaRPr lang="en-US" altLang="zh-CN" sz="55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5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导致前期数据采集成果不符合项目需求，</a:t>
            </a:r>
            <a:endParaRPr lang="en-US" altLang="zh-CN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耽误后续数据标准化、分析及文档撰写的进度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，原始数据入库前未开展空值分布统计校验，未提前识别脏数据便直接移交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至数据标准化流程，导致后续数据分析、可视化环节出现大量异常，整体返工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5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工作量与时间成本显著增加。</a:t>
            </a:r>
            <a:endParaRPr lang="en-US" altLang="zh-CN" sz="5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en-US" altLang="zh-CN" sz="5600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en-US" altLang="zh-CN" sz="1400" dirty="0"/>
          </a:p>
          <a:p>
            <a:pPr algn="l"/>
            <a:r>
              <a:rPr lang="zh-CN" altLang="en-US" sz="5600" dirty="0"/>
              <a:t>。</a:t>
            </a:r>
            <a:endParaRPr lang="zh-CN" altLang="en-US" sz="5600" dirty="0"/>
          </a:p>
          <a:p>
            <a:endParaRPr lang="zh-CN" altLang="en-US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01" y="3086922"/>
            <a:ext cx="5481436" cy="34494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530" y="3086922"/>
            <a:ext cx="4527222" cy="34494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cs typeface="+mn-cs"/>
              </a:rPr>
              <a:t>二、获取的教训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29" name="圆角矩形 28"/>
          <p:cNvSpPr/>
          <p:nvPr>
            <p:custDataLst>
              <p:tags r:id="rId2"/>
            </p:custDataLst>
          </p:nvPr>
        </p:nvSpPr>
        <p:spPr>
          <a:xfrm>
            <a:off x="708879" y="2753733"/>
            <a:ext cx="419907" cy="419907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3"/>
            </p:custDataLst>
          </p:nvPr>
        </p:nvSpPr>
        <p:spPr>
          <a:xfrm>
            <a:off x="708244" y="4487847"/>
            <a:ext cx="419907" cy="419907"/>
          </a:xfrm>
          <a:prstGeom prst="roundRect">
            <a:avLst/>
          </a:pr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3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4" name="矩形 49"/>
          <p:cNvSpPr/>
          <p:nvPr>
            <p:custDataLst>
              <p:tags r:id="rId4"/>
            </p:custDataLst>
          </p:nvPr>
        </p:nvSpPr>
        <p:spPr>
          <a:xfrm>
            <a:off x="1359037" y="1434150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" name="矩形 54"/>
          <p:cNvSpPr/>
          <p:nvPr>
            <p:custDataLst>
              <p:tags r:id="rId5"/>
            </p:custDataLst>
          </p:nvPr>
        </p:nvSpPr>
        <p:spPr>
          <a:xfrm>
            <a:off x="1359037" y="2207509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爬虫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网页数据采集前必须提前做好缓存规避设置正式抓包采集前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要在浏览器开发者工具勾选「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Disable cache(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禁用缓存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」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同时使用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 Ctrl+Shift+R 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强制刷新绕过本地缓存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;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优先用无痕模式开展采集工作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从源头避免浏览器缓存导致接口只返回少量首屏数据、触发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304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缓存响应的问题。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8" name="矩形 57"/>
          <p:cNvSpPr/>
          <p:nvPr>
            <p:custDataLst>
              <p:tags r:id="rId6"/>
            </p:custDataLst>
          </p:nvPr>
        </p:nvSpPr>
        <p:spPr>
          <a:xfrm>
            <a:off x="1357768" y="4009567"/>
            <a:ext cx="10128522" cy="13453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数据采集、初步清洗完成后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不能直接入库移交下游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要把空值统计、脏数据排查作为入库前的硬性必经步骤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提前识别字段缺失、数据异常等问题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从源头阻断不合格数据流转。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88952" cy="1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40000" y="18000"/>
            <a:ext cx="108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Arial" panose="020B0604020202020204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15/16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40000" y="432000"/>
            <a:ext cx="105156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1"/>
                </a:solidFill>
                <a:latin typeface="+mj-lt"/>
              </a:rPr>
              <a:t>核心结论与商业洞察总结</a:t>
            </a:r>
            <a:endParaRPr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0000" y="1152000"/>
            <a:ext cx="424800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9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chemeClr val="lt1"/>
                </a:solidFill>
                <a:latin typeface="+mn-lt"/>
              </a:rPr>
              <a:t>商业化闭环</a:t>
            </a:r>
            <a:endParaRPr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 dirty="0">
                <a:solidFill>
                  <a:schemeClr val="lt1"/>
                </a:solidFill>
                <a:latin typeface="+mn-lt"/>
              </a:rPr>
              <a:t>游戏搭建了完整分层盈利链路：先用免费皮肤吸引玩家入场，再通过直售皮肤完成基础付费转化，依靠战令系统留住长线用户，最后借助抽奖类道具实现高价值变现，形成完整商业循环。</a:t>
            </a:r>
            <a:endParaRPr lang="zh-CN" alt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00" y="1152000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20000" y="1152000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5436000" y="1332000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英雄梯队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5436000" y="1692000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游戏对英雄划分两套运营逻辑：以西施为代表的长期热门</a:t>
            </a:r>
            <a:r>
              <a:rPr lang="en-US" altLang="zh-CN">
                <a:solidFill>
                  <a:schemeClr val="lt1"/>
                </a:solidFill>
                <a:latin typeface="+mn-lt"/>
              </a:rPr>
              <a:t>S</a:t>
            </a:r>
            <a:r>
              <a:rPr lang="zh-CN" altLang="en-US">
                <a:solidFill>
                  <a:schemeClr val="lt1"/>
                </a:solidFill>
                <a:latin typeface="+mn-lt"/>
              </a:rPr>
              <a:t>级英雄，会持续配套上新皮肤；曹操这类短期热度英雄，则集中在强势周期推出皮肤，两类英雄的皮肤投放、营销节奏区分明显。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9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节点规律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936000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皮肤上线节奏贴合全年关键假期：春节主打高端高价皮肤拉高整体营收，暑期靠限定皮肤撬动学生群体活跃度，周年庆同步推出多类型皮肤，同时拉动活跃与付费两项核心指标，投放时机规划针对性极强。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20000" y="2951999"/>
            <a:ext cx="4248000" cy="144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220000" y="2951999"/>
            <a:ext cx="424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5436000" y="3131999"/>
            <a:ext cx="360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A5C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lt1"/>
                </a:solidFill>
                <a:latin typeface="+mn-lt"/>
              </a:rPr>
              <a:t>方法价值</a:t>
            </a:r>
            <a:endParaRPr>
              <a:solidFill>
                <a:schemeClr val="lt1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435365" y="3491999"/>
            <a:ext cx="3780000" cy="720000"/>
          </a:xfrm>
          <a:prstGeom prst="rect">
            <a:avLst/>
          </a:prstGeom>
          <a:noFill/>
        </p:spPr>
        <p:txBody>
          <a:bodyPr wrap="square">
            <a:normAutofit fontScale="60000"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chemeClr val="lt1"/>
                </a:solidFill>
                <a:latin typeface="+mn-lt"/>
              </a:rPr>
              <a:t>本次项目搭建了一套完整的数据处理流程：网络爬虫采集原始数据→数据清洗修正缺失异常值→数据标准化统一字段规范→可视化图表输出分析结果，整套流水线可直接迁移到其他手游道具、皮肤类数据分析工作中。</a:t>
            </a:r>
            <a:endParaRPr lang="zh-CN" altLang="en-US">
              <a:solidFill>
                <a:schemeClr val="lt1"/>
              </a:solidFill>
              <a:latin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2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4"/>
  <p:tag name="KSO_WM_UNIT_TEXT_LAYER_COUNT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4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8"/>
</p:tagLst>
</file>

<file path=ppt/tags/tag97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PRESET_TEXT" val="年号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  <p:tag name="KSO_WM_UNIT_TEXT_LAYER_COUNT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2"/>
  <p:tag name="KSO_WM_UNIT_TEXT_LAYER_COUNT" val="1"/>
</p:tagLst>
</file>

<file path=ppt/tags/tag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339"/>
</p:tagLst>
</file>

<file path=ppt/tags/tag10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339"/>
</p:tagLst>
</file>

<file path=ppt/tags/tag10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39"/>
  <p:tag name="KSO_WM_TEMPLATE_CATEGORY" val="custom"/>
  <p:tag name="KSO_WM_TEMPLATE_MASTER_TYPE" val="0"/>
</p:tagLst>
</file>

<file path=ppt/tags/tag1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3"/>
  <p:tag name="KSO_WM_UNIT_TEXT_TYPE" val="1"/>
  <p:tag name="KSO_WM_UNIT_PRESET_TEXT" val="单击此处编辑母版标题"/>
</p:tagLst>
</file>

<file path=ppt/tags/tag111.xml><?xml version="1.0" encoding="utf-8"?>
<p:tagLst xmlns:p="http://schemas.openxmlformats.org/presentationml/2006/main">
  <p:tag name="KSO_WM_UNIT_TYPE" val="f"/>
  <p:tag name="KSO_WM_UNIT_SUBTYPE" val="e"/>
  <p:tag name="KSO_WM_UNIT_INDEX" val="2"/>
  <p:tag name="KSO_WM_BEAUTIFY_FLAG" val="#wm#"/>
  <p:tag name="KSO_WM_TAG_VERSION" val="3.0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1"/>
  <p:tag name="KSO_WM_UNIT_TEXT_LAYER_COUNT" val="1"/>
  <p:tag name="KSO_WM_UNIT_PRESET_TEXT_INDEX" val="-1"/>
  <p:tag name="KSO_WM_UNIT_PRESET_TEXT_LEN" val="0"/>
  <p:tag name="KSO_WM_UNIT_PRESET_TEXT" val="年号"/>
</p:tagLst>
</file>

<file path=ppt/tags/tag1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44"/>
  <p:tag name="KSO_WM_UNIT_TEXT_LAYER_COUNT" val="1"/>
  <p:tag name="KSO_WM_UNIT_PRESET_TEXT_INDEX" val="-1"/>
  <p:tag name="KSO_WM_UNIT_PRESET_TEXT_LEN" val="0"/>
  <p:tag name="KSO_WM_UNIT_PRESET_TEXT" val="署名"/>
</p:tagLst>
</file>

<file path=ppt/tags/tag11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339"/>
  <p:tag name="KSO_WM_TEMPLATE_CATEGORY" val="custom"/>
  <p:tag name="KSO_WM_SLIDE_INDEX" val="1"/>
  <p:tag name="KSO_WM_SLIDE_ID" val="custom20236339_1"/>
  <p:tag name="KSO_WM_TEMPLATE_MASTER_TYPE" val="0"/>
  <p:tag name="KSO_WM_SLIDE_LAYOUT" val="a_b_f"/>
  <p:tag name="KSO_WM_SLIDE_LAYOUT_CNT" val="1_1_2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PRESET_TEXT_INDEX" val="-1"/>
  <p:tag name="KSO_WM_UNIT_PRESET_TEXT_LEN" val="0"/>
  <p:tag name="KSO_WM_UNIT_TEXT_FILL_FORE_SCHEMECOLOR_INDEX" val="5"/>
  <p:tag name="KSO_WM_UNIT_TEXT_FILL_TYPE" val="1"/>
  <p:tag name="KSO_WM_UNIT_USESOURCEFORMAT_APPLY" val="1"/>
  <p:tag name="KSO_WM_UNIT_PRESET_TEXT" val="标题"/>
  <p:tag name="KSO_WM_UNIT_VALUE" val="2"/>
</p:tagLst>
</file>

<file path=ppt/tags/tag1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6339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6339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6339"/>
  <p:tag name="KSO_WM_TEMPLATE_CATEGORY" val="custom"/>
  <p:tag name="KSO_WM_UNIT_SUBTYPE" val="a"/>
  <p:tag name="KSO_WM_UNIT_VALUE" val="10"/>
  <p:tag name="KSO_WM_DIAGRAM_MAX_ITEMCNT" val="6"/>
  <p:tag name="KSO_WM_DIAGRAM_MIN_ITEMCNT" val="2"/>
  <p:tag name="KSO_WM_DIAGRAM_VIRTUALLY_FRAME" val="{&quot;height&quot;:247.04239888191213,&quot;left&quot;:86.90937500000001,&quot;top&quot;:181.24255055904393,&quot;width&quot;:812.528105314960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目录项标题"/>
  <p:tag name="KSO_WM_UNIT_TEXT_FILL_FORE_SCHEMECOLOR_INDEX" val="13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6339"/>
  <p:tag name="KSO_WM_TEMPLATE_CATEGORY" val="custom"/>
  <p:tag name="KSO_WM_SLIDE_INDEX" val="4"/>
  <p:tag name="KSO_WM_SLIDE_ID" val="custom20236339_4"/>
  <p:tag name="KSO_WM_TEMPLATE_MASTER_TYPE" val="0"/>
  <p:tag name="KSO_WM_SLIDE_LAYOUT" val="a_l"/>
  <p:tag name="KSO_WM_SLIDE_LAYOUT_CNT" val="1_1"/>
  <p:tag name="KSO_WM_SLIDE_DIAGTYPE" val="l"/>
</p:tagLst>
</file>

<file path=ppt/tags/tag1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2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2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2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3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4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5"/>
  <p:tag name="KSO_WM_UNIT_TYPE" val="i"/>
  <p:tag name="KSO_WM_BEAUTIFY_FLAG" val="#wm#"/>
</p:tagLst>
</file>

<file path=ppt/tags/tag13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4"/>
  <p:tag name="KSO_WM_UNIT_TYPE" val="i"/>
  <p:tag name="KSO_WM_BEAUTIFY_FLAG" val="#wm#"/>
</p:tagLst>
</file>

<file path=ppt/tags/tag13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5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"/>
  <p:tag name="KSO_WM_UNIT_TYPE" val="f"/>
  <p:tag name="KSO_WM_UNIT_SUBTYPE" val="a"/>
  <p:tag name="KSO_WM_BEAUTIFY_FLAG" val="#wm#"/>
</p:tagLst>
</file>

<file path=ppt/tags/tag13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6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6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9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3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9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0"/>
  <p:tag name="KSO_WM_UNIT_TYPE" val="i"/>
  <p:tag name="KSO_WM_BEAUTIFY_FLAG" val="#wm#"/>
</p:tagLst>
</file>

<file path=ppt/tags/tag14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7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2"/>
  <p:tag name="KSO_WM_UNIT_TYPE" val="i"/>
  <p:tag name="KSO_WM_BEAUTIFY_FLAG" val="#wm#"/>
</p:tagLst>
</file>

<file path=ppt/tags/tag144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0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1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47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23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8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</p:tagLst>
</file>

<file path=ppt/tags/tag150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1"/>
  <p:tag name="KSO_WM_UNIT_TYPE" val="i"/>
  <p:tag name="KSO_WM_BEAUTIFY_FLAG" val="#wm#"/>
</p:tagLst>
</file>

<file path=ppt/tags/tag151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2"/>
  <p:tag name="KSO_WM_UNIT_TYPE" val="i"/>
  <p:tag name="KSO_WM_BEAUTIFY_FLAG" val="#wm#"/>
</p:tagLst>
</file>

<file path=ppt/tags/tag152.xml><?xml version="1.0" encoding="utf-8"?>
<p:tagLst xmlns:p="http://schemas.openxmlformats.org/presentationml/2006/main">
  <p:tag name="KSO_WM_DIAGRAM_VIRTUALLY_FRAME" val="{&quot;height&quot;:212.0085039370079,&quot;left&quot;:71.77031496062992,&quot;top&quot;:117.71629921259841,&quot;width&quot;:572.1352755905511}"/>
  <p:tag name="KSO_WM_UNIT_INDEX" val="13"/>
  <p:tag name="KSO_WM_UNIT_TYPE" val="i"/>
  <p:tag name="KSO_WM_BEAUTIFY_FLAG" val="#wm#"/>
</p:tagLst>
</file>

<file path=ppt/tags/tag153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5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653_4*a*1"/>
  <p:tag name="KSO_WM_TEMPLATE_CATEGORY" val="diagram"/>
  <p:tag name="KSO_WM_TEMPLATE_INDEX" val="2023165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53_2*l_h_i*1_1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653_2*l_h_a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653_2*l_h_f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53_2*l_h_i*1_1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8,&quot;pos&quot;:0,&quot;transparency&quot;:1},{&quot;brightness&quot;:0.800000011920929,&quot;colorType&quot;:1,&quot;foreColorIndex&quot;:8,&quot;pos&quot;:0.6499999761581421,&quot;transparency&quot;:0.5199999809265137},{&quot;brightness&quot;:0.800000011920929,&quot;colorType&quot;:1,&quot;foreColorIndex&quot;:8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53_2*l_h_i*1_2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653_2*l_h_a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8"/>
  <p:tag name="KSO_WM_UNIT_USESOURCEFORMAT_APPLY" val="1"/>
</p:tagLst>
</file>

<file path=ppt/tags/tag16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653_2*l_h_f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0.69999998807907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53_2*l_h_i*1_2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8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0.6499999761581421,&quot;transparency&quot;:0.5199999809265137},{&quot;brightness&quot;:0.800000011920929,&quot;colorType&quot;:1,&quot;foreColorIndex&quot;:5,&quot;pos&quot;:1,&quot;transparency&quot;:0.12999999523162842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53_2*l_h_i*1_3_2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653_2*l_h_a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添加&#10;标题"/>
  <p:tag name="KSO_WM_UNIT_FILL_TYPE" val="3"/>
  <p:tag name="KSO_WM_UNIT_TEXT_TYPE" val="1"/>
  <p:tag name="KSO_WM_UNIT_SHADOW_SCHEMECOLOR_INDEX" val="5"/>
  <p:tag name="KSO_WM_UNIT_USESOURCEFORMAT_APPLY" val="1"/>
</p:tagLst>
</file>

<file path=ppt/tags/tag16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653_2*l_h_f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7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72.41164913160776,&quot;left&quot;:54.343333333333305,&quot;top&quot;:154.0708941841961,&quot;width&quot;:850.3133333333332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gradient&quot;:[{&quot;brightness&quot;:0,&quot;colorType&quot;:2,&quot;pos&quot;:0,&quot;rgb&quot;:&quot;#ffffff&quot;,&quot;transparency&quot;:0},{&quot;brightness&quot;:0,&quot;colorType&quot;:2,&quot;pos&quot;:0.5299999713897705,&quot;rgb&quot;:&quot;#ffffff&quot;,&quot;transparency&quot;:1}],&quot;type&quot;:2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53_2*l_h_i*1_3_1"/>
  <p:tag name="KSO_WM_TEMPLATE_CATEGORY" val="diagram"/>
  <p:tag name="KSO_WM_TEMPLATE_INDEX" val="20231653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SPECIAL_SOURCE" val="bdnull"/>
  <p:tag name="KSO_WM_SLIDE_ID" val="diagram20231653_4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5"/>
  <p:tag name="KSO_WM_SLIDE_INDEX" val="4"/>
  <p:tag name="KSO_WM_SLIDE_SIZE" val="851.2*317.8"/>
  <p:tag name="KSO_WM_SLIDE_POSITION" val="54.4*208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653"/>
  <p:tag name="KSO_WM_SLIDE_LAYOUT" val="a_l"/>
  <p:tag name="KSO_WM_SLIDE_LAYOUT_CNT" val="1_1"/>
</p:tagLst>
</file>

<file path=ppt/tags/tag17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17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6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17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17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8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3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184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18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88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19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9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9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98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2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0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20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205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0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0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1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1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1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21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2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2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2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26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2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2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3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33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35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238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40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242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f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SUBTYPE" val="a"/>
  <p:tag name="KSO_WM_UNIT_TEXT_LAYER_COUNT" val="1"/>
  <p:tag name="KSO_WM_UNIT_PRESET_TEXT" val="单击此处输入您的项正文，文字是您思想的提炼，请尽量言简意赅的阐述观点单击此处输入智能图形项正文，文字是您思想的提炼，请尽量言简意赅的阐述观点。"/>
  <p:tag name="KSO_WM_UNIT_NOCLEAR" val="0"/>
  <p:tag name="KSO_WM_UNIT_TYPE" val="f"/>
  <p:tag name="KSO_WM_UNIT_INDEX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a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添加文档标题内容"/>
  <p:tag name="KSO_WM_UNIT_NOCLEAR" val="0"/>
  <p:tag name="KSO_WM_UNIT_TYPE" val="a"/>
  <p:tag name="KSO_WM_UNIT_INDEX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1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2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3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234_1*i*4"/>
  <p:tag name="KSO_WM_TEMPLATE_CATEGORY" val="custom"/>
  <p:tag name="KSO_WM_TEMPLATE_INDEX" val="2023523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49.xml><?xml version="1.0" encoding="utf-8"?>
<p:tagLst xmlns:p="http://schemas.openxmlformats.org/presentationml/2006/main">
  <p:tag name="KSO_WM_BEAUTIFY_FLAG" val="#wm#"/>
  <p:tag name="KSO_WM_TEMPLATE_CATEGORY" val="custom"/>
  <p:tag name="KSO_WM_TEMPLATE_INDEX" val="20235234"/>
  <p:tag name="resource_record_key" val="{&quot;10&quot;:[20090547],&quot;65&quot;:[3]}"/>
  <p:tag name="KSO_WM_SLIDE_ID" val="custom2023523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TYPE" val="text"/>
  <p:tag name="KSO_WM_SLIDE_SUBTYPE" val="picTxt"/>
  <p:tag name="KSO_WM_SLIDE_SIZE" val="825*539"/>
  <p:tag name="KSO_WM_SLIDE_POSITION" val="73*0"/>
  <p:tag name="KSO_WM_SLIDE_LAYOUT" val="a_d_f"/>
  <p:tag name="KSO_WM_SLIDE_LAYOUT_CNT" val="1_1_1"/>
</p:tagLst>
</file>

<file path=ppt/tags/tag250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5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52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53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</p:tagLst>
</file>

<file path=ppt/tags/tag254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255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</p:tagLst>
</file>

<file path=ppt/tags/tag256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257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</p:tagLst>
</file>

<file path=ppt/tags/tag258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259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</p:tagLst>
</file>

<file path=ppt/tags/tag260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261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</p:tagLst>
</file>

<file path=ppt/tags/tag262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</p:tagLst>
</file>

<file path=ppt/tags/tag263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</p:tagLst>
</file>

<file path=ppt/tags/tag264.xml><?xml version="1.0" encoding="utf-8"?>
<p:tagLst xmlns:p="http://schemas.openxmlformats.org/presentationml/2006/main">
  <p:tag name="KSO_WM_UNIT_INDEX" val="1_3_4"/>
  <p:tag name="KSO_WM_UNIT_TYPE" val="l_h_f"/>
  <p:tag name="KSO_WM_UNIT_SUBTYPE" val="a"/>
  <p:tag name="KSO_WM_TEMPLATE_CATEGORY" val="diagram"/>
  <p:tag name="KSO_WM_TEMPLATE_INDEX" val="19882022"/>
  <p:tag name="KSO_WM_UNIT_ID" val="diagram19882022*l_h_f*1_3_4"/>
  <p:tag name="KSO_WM_DIAGRAM_GROUP_CODE" val="l1-1"/>
  <p:tag name="KSO_WM_TAG_VERSION" val="2.0"/>
  <p:tag name="KSO_WM_BEAUTIFY_FLAG" val="#wm#"/>
</p:tagLst>
</file>

<file path=ppt/tags/tag26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66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6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69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70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271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272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27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27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76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79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4*l_h_x*1_1_1"/>
  <p:tag name="KSO_WM_TEMPLATE_INDEX" val="19882022"/>
  <p:tag name="KSO_WM_TAG_VERSION" val="2.0"/>
  <p:tag name="KSO_WM_DIAGRAM_GROUP_CODE" val="l1-1"/>
</p:tagLst>
</file>

<file path=ppt/tags/tag280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81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4*l_h_x*1_2_1"/>
  <p:tag name="KSO_WM_TEMPLATE_INDEX" val="19882022"/>
  <p:tag name="KSO_WM_TAG_VERSION" val="2.0"/>
  <p:tag name="KSO_WM_DIAGRAM_GROUP_CODE" val="l1-1"/>
</p:tagLst>
</file>

<file path=ppt/tags/tag282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283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4*l_h_x*1_3_1"/>
  <p:tag name="KSO_WM_TEMPLATE_INDEX" val="19882022"/>
  <p:tag name="KSO_WM_TAG_VERSION" val="2.0"/>
  <p:tag name="KSO_WM_DIAGRAM_GROUP_CODE" val="l1-1"/>
</p:tagLst>
</file>

<file path=ppt/tags/tag28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285.xml><?xml version="1.0" encoding="utf-8"?>
<p:tagLst xmlns:p="http://schemas.openxmlformats.org/presentationml/2006/main">
  <p:tag name="KSO_WM_BEAUTIFY_FLAG" val="#wm#"/>
  <p:tag name="KSO_WM_UNIT_TYPE" val="l_h_x"/>
  <p:tag name="KSO_WM_UNIT_INDEX" val="1_4_1"/>
  <p:tag name="KSO_WM_UNIT_ID" val="diagram19882022_4*l_h_x*1_4_1"/>
  <p:tag name="KSO_WM_TEMPLATE_INDEX" val="19882022"/>
  <p:tag name="KSO_WM_TAG_VERSION" val="2.0"/>
  <p:tag name="KSO_WM_DIAGRAM_GROUP_CODE" val="l1-1"/>
</p:tagLst>
</file>

<file path=ppt/tags/tag286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28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8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28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90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9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293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</p:tagLst>
</file>

<file path=ppt/tags/tag294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4*l_h_f*1_1_2"/>
  <p:tag name="KSO_WM_TEMPLATE_INDEX" val="19882022"/>
  <p:tag name="KSO_WM_TAG_VERSION" val="2.0"/>
  <p:tag name="KSO_WM_DIAGRAM_GROUP_CODE" val="l1-1"/>
</p:tagLst>
</file>

<file path=ppt/tags/tag295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296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297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</p:tagLst>
</file>

<file path=ppt/tags/tag298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</p:tagLst>
</file>

<file path=ppt/tags/tag299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300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301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</p:tagLst>
</file>

<file path=ppt/tags/tag302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303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4*l_h_f*1_4_2"/>
  <p:tag name="KSO_WM_TEMPLATE_INDEX" val="19882022"/>
  <p:tag name="KSO_WM_TAG_VERSION" val="2.0"/>
  <p:tag name="KSO_WM_DIAGRAM_GROUP_CODE" val="l1-1"/>
</p:tagLst>
</file>

<file path=ppt/tags/tag30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305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</p:tagLst>
</file>

<file path=ppt/tags/tag306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</p:tagLst>
</file>

<file path=ppt/tags/tag307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30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30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10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31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31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3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ISCONTENTSTITLE" val="0"/>
  <p:tag name="KSO_WM_UNIT_VALUE" val="14"/>
  <p:tag name="KSO_WM_UNIT_TEXT_TYPE" val="1"/>
  <p:tag name="KSO_WM_UNIT_PRESET_TEXT" val="单击此处编辑母版标题样式"/>
</p:tagLst>
</file>

<file path=ppt/tags/tag31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39"/>
  <p:tag name="KSO_WM_TEMPLATE_CATEGORY" val="custom"/>
  <p:tag name="KSO_WM_UNIT_VALUE" val="10"/>
  <p:tag name="KSO_WM_UNIT_PRESET_TEXT_INDEX" val="-1"/>
  <p:tag name="KSO_WM_UNIT_PRESET_TEXT_LEN" val="0"/>
  <p:tag name="KSO_WM_UNIT_PRESET_TEXT" val="节编号"/>
</p:tagLst>
</file>

<file path=ppt/tags/tag315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6339"/>
  <p:tag name="KSO_WM_TEMPLATE_CATEGORY" val="custom"/>
  <p:tag name="KSO_WM_SLIDE_INDEX" val="7"/>
  <p:tag name="KSO_WM_SLIDE_ID" val="custom20236339_7"/>
  <p:tag name="KSO_WM_TEMPLATE_MASTER_TYPE" val="0"/>
  <p:tag name="KSO_WM_SLIDE_LAYOUT" val="a_e"/>
  <p:tag name="KSO_WM_SLIDE_LAYOUT_CNT" val="1_1"/>
</p:tagLst>
</file>

<file path=ppt/tags/tag3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61_3*a*1"/>
  <p:tag name="KSO_WM_TEMPLATE_CATEGORY" val="diagram"/>
  <p:tag name="KSO_WM_TEMPLATE_INDEX" val="20235161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2*l_h_i*1_3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3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61_2*l_h_f*1_1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61_2*l_h_f*1_2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2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61_2*l_h_f*1_3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461.108188976378,&quot;left&quot;:54.742916666666645,&quot;top&quot;:40.33905511811022,&quot;width&quot;:865.824406167979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322.xml><?xml version="1.0" encoding="utf-8"?>
<p:tagLst xmlns:p="http://schemas.openxmlformats.org/presentationml/2006/main">
  <p:tag name="KSO_WM_SLIDE_ID" val="diagram2023516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5161"/>
  <p:tag name="KSO_WM_SLIDE_TYPE" val="text"/>
  <p:tag name="KSO_WM_SLIDE_SUBTYPE" val="diag"/>
  <p:tag name="KSO_WM_SLIDE_SIZE" val="850.35*389"/>
  <p:tag name="KSO_WM_SLIDE_POSITION" val="54.8*112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23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32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325.xml><?xml version="1.0" encoding="utf-8"?>
<p:tagLst xmlns:p="http://schemas.openxmlformats.org/presentationml/2006/main">
  <p:tag name="KSO_WM_UNIT_INDEX" val="3"/>
  <p:tag name="KSO_WM_UNIT_TYPE" val="a"/>
  <p:tag name="KSO_WM_BEAUTIFY_FLAG" val="#wm#"/>
</p:tagLst>
</file>

<file path=ppt/tags/tag32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7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8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29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3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31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32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UNIT_ID" val="diagram19882022*l_h_a*1_4_1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33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DIAGRAM_VIRTUALLY_FRAME" val="{&quot;height&quot;:226.77157480314963,&quot;left&quot;:73.7007874015748,&quot;top&quot;:104.88188976377953,&quot;width&quot;:651.9685039370079}"/>
</p:tagLst>
</file>

<file path=ppt/tags/tag33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6339"/>
  <p:tag name="KSO_WM_TEMPLATE_CATEGORY" val="custom"/>
  <p:tag name="KSO_WM_SLIDE_INDEX" val="8"/>
  <p:tag name="KSO_WM_SLIDE_ID" val="custom20236339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heme/theme1.xml><?xml version="1.0" encoding="utf-8"?>
<a:theme xmlns:a="http://schemas.openxmlformats.org/drawingml/2006/main" name="1_商务风黑金质感职场办公">
  <a:themeElements>
    <a:clrScheme name="自定义 271">
      <a:dk1>
        <a:srgbClr val="000000"/>
      </a:dk1>
      <a:lt1>
        <a:srgbClr val="FFFFFF"/>
      </a:lt1>
      <a:dk2>
        <a:srgbClr val="1C1302"/>
      </a:dk2>
      <a:lt2>
        <a:srgbClr val="FEF5DD"/>
      </a:lt2>
      <a:accent1>
        <a:srgbClr val="F3B861"/>
      </a:accent1>
      <a:accent2>
        <a:srgbClr val="D7C145"/>
      </a:accent2>
      <a:accent3>
        <a:srgbClr val="FF8621"/>
      </a:accent3>
      <a:accent4>
        <a:srgbClr val="BF9967"/>
      </a:accent4>
      <a:accent5>
        <a:srgbClr val="A8653F"/>
      </a:accent5>
      <a:accent6>
        <a:srgbClr val="B69E90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3159</Words>
  <Application>WPS 演示</Application>
  <PresentationFormat>自定义</PresentationFormat>
  <Paragraphs>301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思源宋体 CN</vt:lpstr>
      <vt:lpstr>微软雅黑</vt:lpstr>
      <vt:lpstr>Calibri</vt:lpstr>
      <vt:lpstr>Gill Sans</vt:lpstr>
      <vt:lpstr>+中文标题</vt:lpstr>
      <vt:lpstr>Arial</vt:lpstr>
      <vt:lpstr>Arial Unicode MS</vt:lpstr>
      <vt:lpstr>Gill Sans MT</vt:lpstr>
      <vt:lpstr>FFont-Family</vt:lpstr>
      <vt:lpstr>1_商务风黑金质感职场办公</vt:lpstr>
      <vt:lpstr>王者荣耀近两年皮肤数据分析</vt:lpstr>
      <vt:lpstr>目录</vt:lpstr>
      <vt:lpstr>项目背景</vt:lpstr>
      <vt:lpstr>PowerPoint 演示文稿</vt:lpstr>
      <vt:lpstr>小组成员分工</vt:lpstr>
      <vt:lpstr>成员分工</vt:lpstr>
      <vt:lpstr>研究过程</vt:lpstr>
      <vt:lpstr>数据采集</vt:lpstr>
      <vt:lpstr>PowerPoint 演示文稿</vt:lpstr>
      <vt:lpstr>PowerPoint 演示文稿</vt:lpstr>
      <vt:lpstr>数据清洗与标准化</vt:lpstr>
      <vt:lpstr>PowerPoint 演示文稿</vt:lpstr>
      <vt:lpstr>PowerPoint 演示文稿</vt:lpstr>
      <vt:lpstr>数据分析与可视化</vt:lpstr>
      <vt:lpstr>技术亮点</vt:lpstr>
      <vt:lpstr>PowerPoint 演示文稿</vt:lpstr>
      <vt:lpstr>PowerPoint 演示文稿</vt:lpstr>
      <vt:lpstr>PowerPoint 演示文稿</vt:lpstr>
      <vt:lpstr>PowerPoint 演示文稿</vt:lpstr>
      <vt:lpstr>经验与教训</vt:lpstr>
      <vt:lpstr>  </vt:lpstr>
      <vt:lpstr>二、获取的教训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WPS_1679969022</cp:lastModifiedBy>
  <cp:revision>16</cp:revision>
  <dcterms:created xsi:type="dcterms:W3CDTF">2013-01-27T09:14:00Z</dcterms:created>
  <dcterms:modified xsi:type="dcterms:W3CDTF">2026-07-16T02:57:33Z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214C8A397A7046FB95DB0530B7C03DE8_13</vt:lpwstr>
  </property>
  <property fmtid="{D5CDD505-2E9C-101B-9397-08002B2CF9AE}" pid="3" name="KSOProductBuildVer">
    <vt:lpwstr>2052-12.1.0.26375</vt:lpwstr>
  </property>
</Properties>
</file>